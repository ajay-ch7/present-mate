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5.png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296400"/>
            <a:ext cx="4920106" cy="9905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71386"/>
            <a:ext cx="1046480" cy="1205865"/>
          </a:xfrm>
          <a:custGeom>
            <a:avLst/>
            <a:gdLst/>
            <a:ahLst/>
            <a:cxnLst/>
            <a:rect l="l" t="t" r="r" b="b"/>
            <a:pathLst>
              <a:path w="1046480" h="1205864">
                <a:moveTo>
                  <a:pt x="1046035" y="1205674"/>
                </a:moveTo>
                <a:lnTo>
                  <a:pt x="0" y="1205674"/>
                </a:lnTo>
                <a:lnTo>
                  <a:pt x="0" y="0"/>
                </a:lnTo>
                <a:lnTo>
                  <a:pt x="1046035" y="1205674"/>
                </a:lnTo>
                <a:close/>
              </a:path>
            </a:pathLst>
          </a:custGeom>
          <a:solidFill>
            <a:srgbClr val="D966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26995"/>
            <a:ext cx="1046480" cy="1044575"/>
          </a:xfrm>
          <a:custGeom>
            <a:avLst/>
            <a:gdLst/>
            <a:ahLst/>
            <a:cxnLst/>
            <a:rect l="l" t="t" r="r" b="b"/>
            <a:pathLst>
              <a:path w="1046480" h="1044575">
                <a:moveTo>
                  <a:pt x="1046047" y="1044375"/>
                </a:moveTo>
                <a:lnTo>
                  <a:pt x="0" y="1044375"/>
                </a:lnTo>
                <a:lnTo>
                  <a:pt x="0" y="0"/>
                </a:lnTo>
                <a:lnTo>
                  <a:pt x="1046047" y="1044375"/>
                </a:lnTo>
                <a:close/>
              </a:path>
            </a:pathLst>
          </a:custGeom>
          <a:solidFill>
            <a:srgbClr val="B96BE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22634" y="8685688"/>
            <a:ext cx="1665364" cy="16013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602" y="7013829"/>
            <a:ext cx="5905397" cy="327317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708240"/>
            <a:ext cx="6446159" cy="357289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2969" y="3819489"/>
            <a:ext cx="517649" cy="5176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78831" y="3819489"/>
            <a:ext cx="517648" cy="5176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14"/>
            <a:ext cx="18144431" cy="102835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63800" y="478646"/>
            <a:ext cx="1336040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hyperlink" Target="mailto:kbhavesh2007@gmail.com" TargetMode="External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5.xml" /><Relationship Id="rId6" Type="http://schemas.openxmlformats.org/officeDocument/2006/relationships/hyperlink" Target="mailto:kaushik.vinjamur2006@gmail.com" TargetMode="External" /><Relationship Id="rId5" Type="http://schemas.openxmlformats.org/officeDocument/2006/relationships/hyperlink" Target="mailto:ajayphoenix8849@gmail.com" TargetMode="External" /><Relationship Id="rId4" Type="http://schemas.openxmlformats.org/officeDocument/2006/relationships/hyperlink" Target="mailto:yusufshereef69@gmail.com" TargetMode="Externa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 /><Relationship Id="rId3" Type="http://schemas.openxmlformats.org/officeDocument/2006/relationships/image" Target="../media/image8.png" /><Relationship Id="rId7" Type="http://schemas.openxmlformats.org/officeDocument/2006/relationships/image" Target="../media/image12.png" /><Relationship Id="rId12" Type="http://schemas.openxmlformats.org/officeDocument/2006/relationships/image" Target="../media/image17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1.png" /><Relationship Id="rId11" Type="http://schemas.openxmlformats.org/officeDocument/2006/relationships/image" Target="../media/image16.png" /><Relationship Id="rId5" Type="http://schemas.openxmlformats.org/officeDocument/2006/relationships/image" Target="../media/image10.jpg" /><Relationship Id="rId10" Type="http://schemas.openxmlformats.org/officeDocument/2006/relationships/image" Target="../media/image15.png" /><Relationship Id="rId4" Type="http://schemas.openxmlformats.org/officeDocument/2006/relationships/image" Target="../media/image9.png" /><Relationship Id="rId9" Type="http://schemas.openxmlformats.org/officeDocument/2006/relationships/image" Target="../media/image14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90763" y="5157955"/>
            <a:ext cx="5334000" cy="821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200" spc="2610" dirty="0">
                <a:solidFill>
                  <a:srgbClr val="8548CE"/>
                </a:solidFill>
                <a:latin typeface="Arial"/>
                <a:cs typeface="Arial"/>
              </a:rPr>
              <a:t>Flowchat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62931" y="6300851"/>
            <a:ext cx="292100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1125" dirty="0">
                <a:latin typeface="Arial"/>
                <a:cs typeface="Arial"/>
              </a:rPr>
              <a:t>FEDORA</a:t>
            </a:r>
            <a:endParaRPr sz="3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598337" y="32239"/>
            <a:ext cx="1689735" cy="10255250"/>
            <a:chOff x="16598337" y="32239"/>
            <a:chExt cx="1689735" cy="102552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98337" y="32239"/>
              <a:ext cx="1689663" cy="207939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22636" y="8685688"/>
              <a:ext cx="1665364" cy="160131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27614" y="6300851"/>
            <a:ext cx="3878579" cy="3372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7045">
              <a:lnSpc>
                <a:spcPct val="100000"/>
              </a:lnSpc>
              <a:spcBef>
                <a:spcPts val="100"/>
              </a:spcBef>
              <a:tabLst>
                <a:tab pos="1934845" algn="l"/>
              </a:tabLst>
            </a:pPr>
            <a:r>
              <a:rPr sz="3800" spc="1215" dirty="0">
                <a:latin typeface="Arial"/>
                <a:cs typeface="Arial"/>
              </a:rPr>
              <a:t>BY</a:t>
            </a:r>
            <a:r>
              <a:rPr sz="3800" dirty="0">
                <a:latin typeface="Arial"/>
                <a:cs typeface="Arial"/>
              </a:rPr>
              <a:t>	</a:t>
            </a:r>
            <a:r>
              <a:rPr sz="3800" spc="1115" dirty="0">
                <a:latin typeface="Arial"/>
                <a:cs typeface="Arial"/>
              </a:rPr>
              <a:t>TEAM</a:t>
            </a:r>
            <a:endParaRPr sz="3800">
              <a:latin typeface="Arial"/>
              <a:cs typeface="Arial"/>
            </a:endParaRPr>
          </a:p>
          <a:p>
            <a:pPr marL="12700" marR="433705">
              <a:lnSpc>
                <a:spcPct val="117400"/>
              </a:lnSpc>
              <a:spcBef>
                <a:spcPts val="3765"/>
              </a:spcBef>
            </a:pPr>
            <a:r>
              <a:rPr sz="3200" b="1" dirty="0">
                <a:latin typeface="Arial"/>
                <a:cs typeface="Arial"/>
              </a:rPr>
              <a:t>Yusuf</a:t>
            </a:r>
            <a:r>
              <a:rPr sz="3200" b="1" spc="-21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Shereef </a:t>
            </a:r>
            <a:r>
              <a:rPr sz="3200" b="1" dirty="0">
                <a:latin typeface="Arial"/>
                <a:cs typeface="Arial"/>
              </a:rPr>
              <a:t>Ajay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Chakali </a:t>
            </a:r>
            <a:r>
              <a:rPr sz="3200" b="1" dirty="0">
                <a:latin typeface="Arial"/>
                <a:cs typeface="Arial"/>
              </a:rPr>
              <a:t>Kaushik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Vinjamur </a:t>
            </a:r>
            <a:r>
              <a:rPr sz="3200" b="1" dirty="0">
                <a:latin typeface="Arial"/>
                <a:cs typeface="Arial"/>
              </a:rPr>
              <a:t>K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Bhavesh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64595" y="7330956"/>
            <a:ext cx="6654165" cy="234251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73660">
              <a:lnSpc>
                <a:spcPct val="118600"/>
              </a:lnSpc>
              <a:spcBef>
                <a:spcPts val="265"/>
              </a:spcBef>
            </a:pPr>
            <a:r>
              <a:rPr sz="3200" b="1" spc="-10" dirty="0">
                <a:latin typeface="Arial"/>
                <a:cs typeface="Arial"/>
                <a:hlinkClick r:id="rId4"/>
              </a:rPr>
              <a:t>yusufshereef69@gmail.com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  <a:hlinkClick r:id="rId5"/>
              </a:rPr>
              <a:t>ajayphoenix8849@gmail.com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  <a:hlinkClick r:id="rId6"/>
              </a:rPr>
              <a:t>kaushik.vinjamur2006@gmail.com</a:t>
            </a:r>
            <a:endParaRPr sz="3200">
              <a:latin typeface="Arial"/>
              <a:cs typeface="Arial"/>
            </a:endParaRPr>
          </a:p>
          <a:p>
            <a:pPr marL="374650">
              <a:lnSpc>
                <a:spcPct val="100000"/>
              </a:lnSpc>
              <a:spcBef>
                <a:spcPts val="575"/>
              </a:spcBef>
            </a:pPr>
            <a:r>
              <a:rPr sz="3200" b="1" spc="-10" dirty="0">
                <a:latin typeface="Arial"/>
                <a:cs typeface="Arial"/>
                <a:hlinkClick r:id="rId7"/>
              </a:rPr>
              <a:t>kbhavesh2007@gmail.com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6292" y="248680"/>
            <a:ext cx="21590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14" dirty="0">
                <a:solidFill>
                  <a:srgbClr val="7B33BA"/>
                </a:solidFill>
              </a:rPr>
              <a:t>IDEA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65608" y="0"/>
            <a:ext cx="2022348" cy="18140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7800" y="9296400"/>
            <a:ext cx="4920106" cy="990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1800" y="9296400"/>
            <a:ext cx="4920105" cy="9905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34901" y="1003948"/>
            <a:ext cx="15036800" cy="7551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73150">
              <a:lnSpc>
                <a:spcPct val="141600"/>
              </a:lnSpc>
              <a:spcBef>
                <a:spcPts val="95"/>
              </a:spcBef>
            </a:pPr>
            <a:r>
              <a:rPr sz="2750" dirty="0">
                <a:latin typeface="Arial"/>
                <a:cs typeface="Arial"/>
              </a:rPr>
              <a:t>In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collaborative</a:t>
            </a:r>
            <a:r>
              <a:rPr sz="2750" b="1" spc="60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group</a:t>
            </a:r>
            <a:r>
              <a:rPr sz="2750" b="1" spc="60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chats</a:t>
            </a:r>
            <a:r>
              <a:rPr sz="2750" dirty="0">
                <a:latin typeface="Arial"/>
                <a:cs typeface="Arial"/>
              </a:rPr>
              <a:t>,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critical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information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like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key</a:t>
            </a:r>
            <a:r>
              <a:rPr sz="2750" spc="6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decisions,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tasks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to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spc="-25" dirty="0">
                <a:latin typeface="Arial"/>
                <a:cs typeface="Arial"/>
              </a:rPr>
              <a:t>be </a:t>
            </a:r>
            <a:r>
              <a:rPr sz="2750" dirty="0">
                <a:latin typeface="Arial"/>
                <a:cs typeface="Arial"/>
              </a:rPr>
              <a:t>performed,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deadlines,</a:t>
            </a:r>
            <a:r>
              <a:rPr sz="2750" spc="7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and</a:t>
            </a:r>
            <a:r>
              <a:rPr sz="2750" spc="7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important</a:t>
            </a:r>
            <a:r>
              <a:rPr sz="2750" spc="7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reminders</a:t>
            </a:r>
            <a:r>
              <a:rPr sz="2750" spc="7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gets</a:t>
            </a:r>
            <a:r>
              <a:rPr sz="2750" spc="8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lost.</a:t>
            </a:r>
            <a:r>
              <a:rPr sz="2750" spc="7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Group</a:t>
            </a:r>
            <a:r>
              <a:rPr sz="2750" spc="8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members</a:t>
            </a:r>
            <a:r>
              <a:rPr sz="2750" spc="8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considerably </a:t>
            </a:r>
            <a:r>
              <a:rPr sz="2750" dirty="0">
                <a:latin typeface="Arial"/>
                <a:cs typeface="Arial"/>
              </a:rPr>
              <a:t>waste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large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amount</a:t>
            </a:r>
            <a:r>
              <a:rPr sz="2750" spc="5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of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time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scrolling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through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hundreds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of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messages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to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find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context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hence </a:t>
            </a:r>
            <a:r>
              <a:rPr sz="2750" dirty="0">
                <a:latin typeface="Arial"/>
                <a:cs typeface="Arial"/>
              </a:rPr>
              <a:t>teams</a:t>
            </a:r>
            <a:r>
              <a:rPr sz="2750" spc="6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are</a:t>
            </a:r>
            <a:r>
              <a:rPr sz="2750" spc="6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trapped</a:t>
            </a:r>
            <a:r>
              <a:rPr sz="2750" spc="6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in</a:t>
            </a:r>
            <a:r>
              <a:rPr sz="2750" spc="7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a</a:t>
            </a:r>
            <a:r>
              <a:rPr sz="2750" spc="6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cycle</a:t>
            </a:r>
            <a:r>
              <a:rPr sz="2750" spc="6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of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constant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interruptions</a:t>
            </a:r>
            <a:r>
              <a:rPr sz="2750" spc="6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and</a:t>
            </a:r>
            <a:r>
              <a:rPr sz="2750" spc="114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information</a:t>
            </a:r>
            <a:r>
              <a:rPr sz="2750" b="1" spc="60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retrieval</a:t>
            </a:r>
            <a:r>
              <a:rPr sz="2750" dirty="0">
                <a:latin typeface="Arial"/>
                <a:cs typeface="Arial"/>
              </a:rPr>
              <a:t>,</a:t>
            </a:r>
            <a:r>
              <a:rPr sz="2750" spc="60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thus </a:t>
            </a:r>
            <a:r>
              <a:rPr sz="2750" dirty="0">
                <a:latin typeface="Arial"/>
                <a:cs typeface="Arial"/>
              </a:rPr>
              <a:t>spending</a:t>
            </a:r>
            <a:r>
              <a:rPr sz="2750" spc="4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more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time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managing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the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conversation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than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acting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on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it.</a:t>
            </a:r>
            <a:r>
              <a:rPr sz="2750" spc="-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The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problem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here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is</a:t>
            </a:r>
            <a:r>
              <a:rPr sz="2750" spc="55" dirty="0">
                <a:latin typeface="Arial"/>
                <a:cs typeface="Arial"/>
              </a:rPr>
              <a:t> </a:t>
            </a:r>
            <a:r>
              <a:rPr sz="2750" spc="-25" dirty="0">
                <a:latin typeface="Arial"/>
                <a:cs typeface="Arial"/>
              </a:rPr>
              <a:t>the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lack</a:t>
            </a:r>
            <a:r>
              <a:rPr sz="2750" b="1" spc="60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of</a:t>
            </a:r>
            <a:r>
              <a:rPr sz="2750" b="1" spc="60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an</a:t>
            </a:r>
            <a:r>
              <a:rPr sz="2750" b="1" spc="55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intelligent</a:t>
            </a:r>
            <a:r>
              <a:rPr sz="2750" b="1" spc="55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layer</a:t>
            </a:r>
            <a:r>
              <a:rPr sz="2750" b="1" spc="60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to</a:t>
            </a:r>
            <a:r>
              <a:rPr sz="2750" b="1" spc="55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organize,</a:t>
            </a:r>
            <a:r>
              <a:rPr sz="2750" b="1" spc="55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and</a:t>
            </a:r>
            <a:r>
              <a:rPr sz="2750" b="1" spc="55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present</a:t>
            </a:r>
            <a:r>
              <a:rPr sz="2750" b="1" spc="60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the</a:t>
            </a:r>
            <a:r>
              <a:rPr sz="2750" b="1" spc="60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outcomes</a:t>
            </a:r>
            <a:r>
              <a:rPr sz="2750" b="1" spc="55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of</a:t>
            </a:r>
            <a:r>
              <a:rPr sz="2750" b="1" spc="60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those</a:t>
            </a:r>
            <a:r>
              <a:rPr sz="2750" b="1" spc="60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chats</a:t>
            </a:r>
            <a:r>
              <a:rPr sz="2750" b="1" spc="60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spc="-25" dirty="0">
                <a:solidFill>
                  <a:srgbClr val="8725B4"/>
                </a:solidFill>
                <a:latin typeface="Arial"/>
                <a:cs typeface="Arial"/>
              </a:rPr>
              <a:t>on </a:t>
            </a:r>
            <a:r>
              <a:rPr sz="2750" b="1" spc="-10" dirty="0">
                <a:solidFill>
                  <a:srgbClr val="8725B4"/>
                </a:solidFill>
                <a:latin typeface="Arial"/>
                <a:cs typeface="Arial"/>
              </a:rPr>
              <a:t>demand</a:t>
            </a:r>
            <a:r>
              <a:rPr sz="3050" b="1" spc="-10" dirty="0">
                <a:latin typeface="Arial"/>
                <a:cs typeface="Arial"/>
              </a:rPr>
              <a:t>.</a:t>
            </a:r>
            <a:endParaRPr sz="3050" dirty="0">
              <a:latin typeface="Arial"/>
              <a:cs typeface="Arial"/>
            </a:endParaRPr>
          </a:p>
          <a:p>
            <a:pPr marL="133985" marR="5080">
              <a:lnSpc>
                <a:spcPct val="141100"/>
              </a:lnSpc>
              <a:spcBef>
                <a:spcPts val="2915"/>
              </a:spcBef>
              <a:tabLst>
                <a:tab pos="954405" algn="l"/>
              </a:tabLst>
            </a:pP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Our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solution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is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to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build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a</a:t>
            </a:r>
            <a:r>
              <a:rPr sz="2750" spc="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b="1" spc="-10" dirty="0">
                <a:solidFill>
                  <a:srgbClr val="8725B4"/>
                </a:solidFill>
                <a:latin typeface="Arial"/>
                <a:cs typeface="Arial"/>
              </a:rPr>
              <a:t>real-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time</a:t>
            </a:r>
            <a:r>
              <a:rPr sz="2750" b="1" spc="-5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collaborative</a:t>
            </a:r>
            <a:r>
              <a:rPr sz="2750" b="1" spc="-5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chat</a:t>
            </a:r>
            <a:r>
              <a:rPr sz="2750" b="1" spc="-10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b="1" dirty="0">
                <a:solidFill>
                  <a:srgbClr val="8725B4"/>
                </a:solidFill>
                <a:latin typeface="Arial"/>
                <a:cs typeface="Arial"/>
              </a:rPr>
              <a:t>system</a:t>
            </a:r>
            <a:r>
              <a:rPr sz="2750" b="1" spc="5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with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a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built-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in</a:t>
            </a:r>
            <a:r>
              <a:rPr sz="2750" spc="-1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AI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assistant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spc="-20" dirty="0">
                <a:solidFill>
                  <a:srgbClr val="140C16"/>
                </a:solidFill>
                <a:latin typeface="Arial"/>
                <a:cs typeface="Arial"/>
              </a:rPr>
              <a:t>that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continuously</a:t>
            </a:r>
            <a:r>
              <a:rPr sz="2750" spc="-1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processes</a:t>
            </a:r>
            <a:r>
              <a:rPr sz="2750" spc="-1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conversations,</a:t>
            </a:r>
            <a:r>
              <a:rPr sz="2750" spc="-1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and</a:t>
            </a:r>
            <a:r>
              <a:rPr sz="2750" spc="-1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highlights</a:t>
            </a:r>
            <a:r>
              <a:rPr sz="2750" spc="-1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decisions,</a:t>
            </a:r>
            <a:r>
              <a:rPr sz="2750" spc="-1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tasks</a:t>
            </a:r>
            <a:r>
              <a:rPr sz="2750" spc="-1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by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transforming</a:t>
            </a:r>
            <a:r>
              <a:rPr sz="2750" spc="-1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cluttered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team</a:t>
            </a:r>
            <a:r>
              <a:rPr sz="2750" spc="-1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chats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into</a:t>
            </a:r>
            <a:r>
              <a:rPr sz="2750" spc="-1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actionable,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summarized</a:t>
            </a:r>
            <a:r>
              <a:rPr sz="2750" spc="-1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info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that</a:t>
            </a:r>
            <a:r>
              <a:rPr sz="2750" spc="-1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empowers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team</a:t>
            </a:r>
            <a:r>
              <a:rPr sz="2750" spc="-1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to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collaborate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clearly</a:t>
            </a:r>
            <a:r>
              <a:rPr sz="2750" spc="-1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and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spc="-20" dirty="0">
                <a:solidFill>
                  <a:srgbClr val="140C16"/>
                </a:solidFill>
                <a:latin typeface="Arial"/>
                <a:cs typeface="Arial"/>
              </a:rPr>
              <a:t>stay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in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sync with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the group members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striving for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maximum 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productivity.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 Users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will be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able</a:t>
            </a:r>
            <a:r>
              <a:rPr sz="2750" spc="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to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engage </a:t>
            </a:r>
            <a:r>
              <a:rPr sz="2750" spc="-20" dirty="0">
                <a:solidFill>
                  <a:srgbClr val="140C16"/>
                </a:solidFill>
                <a:latin typeface="Arial"/>
                <a:cs typeface="Arial"/>
              </a:rPr>
              <a:t>with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	group chat</a:t>
            </a:r>
            <a:r>
              <a:rPr sz="2750" spc="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efficiently and</a:t>
            </a:r>
            <a:r>
              <a:rPr sz="2750" spc="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be</a:t>
            </a:r>
            <a:r>
              <a:rPr sz="2750" spc="-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reminded</a:t>
            </a:r>
            <a:r>
              <a:rPr sz="2750" spc="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about</a:t>
            </a:r>
            <a:r>
              <a:rPr sz="2750" spc="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neglected tasks, mentions</a:t>
            </a:r>
            <a:r>
              <a:rPr sz="2750" spc="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140C16"/>
                </a:solidFill>
                <a:latin typeface="Arial"/>
                <a:cs typeface="Arial"/>
              </a:rPr>
              <a:t>and </a:t>
            </a:r>
            <a:r>
              <a:rPr sz="2750" spc="-10" dirty="0">
                <a:solidFill>
                  <a:srgbClr val="140C16"/>
                </a:solidFill>
                <a:latin typeface="Arial"/>
                <a:cs typeface="Arial"/>
              </a:rPr>
              <a:t>information.</a:t>
            </a:r>
            <a:endParaRPr sz="275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486349"/>
            <a:ext cx="4920106" cy="7999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6995"/>
            <a:ext cx="1046480" cy="2250440"/>
            <a:chOff x="0" y="26995"/>
            <a:chExt cx="1046480" cy="2250440"/>
          </a:xfrm>
        </p:grpSpPr>
        <p:sp>
          <p:nvSpPr>
            <p:cNvPr id="3" name="object 3"/>
            <p:cNvSpPr/>
            <p:nvPr/>
          </p:nvSpPr>
          <p:spPr>
            <a:xfrm>
              <a:off x="0" y="1071386"/>
              <a:ext cx="1046480" cy="1205865"/>
            </a:xfrm>
            <a:custGeom>
              <a:avLst/>
              <a:gdLst/>
              <a:ahLst/>
              <a:cxnLst/>
              <a:rect l="l" t="t" r="r" b="b"/>
              <a:pathLst>
                <a:path w="1046480" h="1205864">
                  <a:moveTo>
                    <a:pt x="1046035" y="1205674"/>
                  </a:moveTo>
                  <a:lnTo>
                    <a:pt x="0" y="1205674"/>
                  </a:lnTo>
                  <a:lnTo>
                    <a:pt x="0" y="0"/>
                  </a:lnTo>
                  <a:lnTo>
                    <a:pt x="1046035" y="1205674"/>
                  </a:lnTo>
                  <a:close/>
                </a:path>
              </a:pathLst>
            </a:custGeom>
            <a:solidFill>
              <a:srgbClr val="D96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6995"/>
              <a:ext cx="1046480" cy="1044575"/>
            </a:xfrm>
            <a:custGeom>
              <a:avLst/>
              <a:gdLst/>
              <a:ahLst/>
              <a:cxnLst/>
              <a:rect l="l" t="t" r="r" b="b"/>
              <a:pathLst>
                <a:path w="1046480" h="1044575">
                  <a:moveTo>
                    <a:pt x="1046047" y="1044375"/>
                  </a:moveTo>
                  <a:lnTo>
                    <a:pt x="0" y="1044375"/>
                  </a:lnTo>
                  <a:lnTo>
                    <a:pt x="0" y="0"/>
                  </a:lnTo>
                  <a:lnTo>
                    <a:pt x="1046047" y="1044375"/>
                  </a:lnTo>
                  <a:close/>
                </a:path>
              </a:pathLst>
            </a:custGeom>
            <a:solidFill>
              <a:srgbClr val="B96B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22634" y="8685688"/>
            <a:ext cx="1665364" cy="160131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65608" y="0"/>
            <a:ext cx="2022348" cy="18140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877" y="10012699"/>
            <a:ext cx="4920107" cy="2743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26384" y="10012699"/>
            <a:ext cx="4920107" cy="274300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079980" y="1262720"/>
          <a:ext cx="7546974" cy="81470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5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0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10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endParaRPr sz="3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3700" b="1" spc="-10" dirty="0">
                          <a:solidFill>
                            <a:srgbClr val="140C16"/>
                          </a:solidFill>
                          <a:latin typeface="Arial"/>
                          <a:cs typeface="Arial"/>
                        </a:rPr>
                        <a:t>Frontend</a:t>
                      </a:r>
                      <a:endParaRPr sz="37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140C16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2700" b="1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HTML/</a:t>
                      </a:r>
                      <a:r>
                        <a:rPr sz="2700" b="1" spc="-110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25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JS</a:t>
                      </a:r>
                      <a:endParaRPr sz="2700">
                        <a:latin typeface="Arial"/>
                        <a:cs typeface="Arial"/>
                      </a:endParaRPr>
                    </a:p>
                    <a:p>
                      <a:pPr marL="1002030" marR="998219" algn="ctr">
                        <a:lnSpc>
                          <a:spcPct val="140000"/>
                        </a:lnSpc>
                      </a:pPr>
                      <a:r>
                        <a:rPr sz="2700" b="1" spc="-25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Tailwind</a:t>
                      </a:r>
                      <a:r>
                        <a:rPr sz="2700" b="1" spc="-135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25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CSS </a:t>
                      </a:r>
                      <a:r>
                        <a:rPr sz="2700" b="1" spc="-10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js(axios)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189865" marB="0">
                    <a:lnL w="38100">
                      <a:solidFill>
                        <a:srgbClr val="140C16"/>
                      </a:solidFill>
                      <a:prstDash val="solid"/>
                    </a:lnL>
                    <a:lnR w="38100">
                      <a:solidFill>
                        <a:srgbClr val="140C16"/>
                      </a:solidFill>
                      <a:prstDash val="solid"/>
                    </a:lnR>
                    <a:lnT w="38100">
                      <a:solidFill>
                        <a:srgbClr val="140C16"/>
                      </a:solidFill>
                      <a:prstDash val="solid"/>
                    </a:lnT>
                    <a:lnB w="38100">
                      <a:solidFill>
                        <a:srgbClr val="140C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80"/>
                        </a:spcBef>
                      </a:pPr>
                      <a:r>
                        <a:rPr sz="3500" b="1" dirty="0">
                          <a:solidFill>
                            <a:srgbClr val="140C16"/>
                          </a:solidFill>
                          <a:latin typeface="Arial"/>
                          <a:cs typeface="Arial"/>
                        </a:rPr>
                        <a:t>Server</a:t>
                      </a:r>
                      <a:r>
                        <a:rPr sz="3500" b="1" spc="-140" dirty="0">
                          <a:solidFill>
                            <a:srgbClr val="140C1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500" b="1" spc="-10" dirty="0">
                          <a:solidFill>
                            <a:srgbClr val="140C16"/>
                          </a:solidFill>
                          <a:latin typeface="Arial"/>
                          <a:cs typeface="Arial"/>
                        </a:rPr>
                        <a:t>Client</a:t>
                      </a:r>
                      <a:endParaRPr sz="3500">
                        <a:latin typeface="Arial"/>
                        <a:cs typeface="Arial"/>
                      </a:endParaRPr>
                    </a:p>
                  </a:txBody>
                  <a:tcPr marL="0" marR="0" marT="3149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140C16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0"/>
                        </a:spcBef>
                      </a:pPr>
                      <a:r>
                        <a:rPr sz="3000" b="1" spc="-10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JS(Stomp.js)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355600" marB="0">
                    <a:lnL w="38100">
                      <a:solidFill>
                        <a:srgbClr val="140C16"/>
                      </a:solidFill>
                      <a:prstDash val="solid"/>
                    </a:lnL>
                    <a:lnR w="38100">
                      <a:solidFill>
                        <a:srgbClr val="140C16"/>
                      </a:solidFill>
                      <a:prstDash val="solid"/>
                    </a:lnR>
                    <a:lnT w="38100">
                      <a:solidFill>
                        <a:srgbClr val="140C16"/>
                      </a:solidFill>
                      <a:prstDash val="solid"/>
                    </a:lnT>
                    <a:lnB w="38100">
                      <a:solidFill>
                        <a:srgbClr val="140C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4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10"/>
                        </a:spcBef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3600" b="1" spc="-10" dirty="0">
                          <a:solidFill>
                            <a:srgbClr val="140C16"/>
                          </a:solidFill>
                          <a:latin typeface="Arial"/>
                          <a:cs typeface="Arial"/>
                        </a:rPr>
                        <a:t>Backend</a:t>
                      </a:r>
                      <a:endParaRPr sz="3600">
                        <a:latin typeface="Arial"/>
                        <a:cs typeface="Arial"/>
                      </a:endParaRPr>
                    </a:p>
                  </a:txBody>
                  <a:tcPr marL="0" marR="0" marT="344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0195" marR="285115" indent="663575">
                        <a:lnSpc>
                          <a:spcPct val="140000"/>
                        </a:lnSpc>
                        <a:spcBef>
                          <a:spcPts val="755"/>
                        </a:spcBef>
                      </a:pPr>
                      <a:r>
                        <a:rPr sz="3000" b="1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Spring</a:t>
                      </a:r>
                      <a:r>
                        <a:rPr sz="3000" b="1" spc="-130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000" b="1" spc="-10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boot, </a:t>
                      </a:r>
                      <a:r>
                        <a:rPr sz="3000" b="1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Spring</a:t>
                      </a:r>
                      <a:r>
                        <a:rPr sz="3000" b="1" spc="-110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000" b="1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WebSocket</a:t>
                      </a:r>
                      <a:r>
                        <a:rPr sz="3000" b="1" spc="-110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000" b="1" spc="-50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,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3000" b="1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Spring</a:t>
                      </a:r>
                      <a:r>
                        <a:rPr sz="3000" b="1" spc="-75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000" b="1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3000" b="1" spc="-75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000" b="1" spc="-25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JPA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958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140C16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39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0"/>
                        </a:spcBef>
                      </a:pPr>
                      <a:r>
                        <a:rPr sz="3600" b="1" spc="-10" dirty="0">
                          <a:solidFill>
                            <a:srgbClr val="140C16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endParaRPr sz="3600">
                        <a:latin typeface="Arial"/>
                        <a:cs typeface="Arial"/>
                      </a:endParaRPr>
                    </a:p>
                  </a:txBody>
                  <a:tcPr marL="0" marR="0" marT="3492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0"/>
                        </a:spcBef>
                      </a:pPr>
                      <a:r>
                        <a:rPr sz="3600" b="1" spc="-10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Postgres</a:t>
                      </a:r>
                      <a:endParaRPr sz="3600">
                        <a:latin typeface="Arial"/>
                        <a:cs typeface="Arial"/>
                      </a:endParaRPr>
                    </a:p>
                  </a:txBody>
                  <a:tcPr marL="0" marR="0" marT="3492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84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45"/>
                        </a:spcBef>
                      </a:pPr>
                      <a:r>
                        <a:rPr sz="3500" b="1" spc="-25" dirty="0">
                          <a:solidFill>
                            <a:srgbClr val="140C16"/>
                          </a:solidFill>
                          <a:latin typeface="Arial"/>
                          <a:cs typeface="Arial"/>
                        </a:rPr>
                        <a:t>Al</a:t>
                      </a:r>
                      <a:endParaRPr sz="3500">
                        <a:latin typeface="Arial"/>
                        <a:cs typeface="Arial"/>
                      </a:endParaRPr>
                    </a:p>
                  </a:txBody>
                  <a:tcPr marL="0" marR="0" marT="3994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2280" marR="431165" indent="-1299210">
                        <a:lnSpc>
                          <a:spcPct val="140000"/>
                        </a:lnSpc>
                        <a:spcBef>
                          <a:spcPts val="95"/>
                        </a:spcBef>
                      </a:pPr>
                      <a:r>
                        <a:rPr sz="2700" b="1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External</a:t>
                      </a:r>
                      <a:r>
                        <a:rPr sz="2700" b="1" spc="-140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700" b="1" spc="-10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API(Gemini </a:t>
                      </a:r>
                      <a:r>
                        <a:rPr sz="2700" b="1" spc="-20" dirty="0">
                          <a:solidFill>
                            <a:srgbClr val="470084"/>
                          </a:solidFill>
                          <a:latin typeface="Arial"/>
                          <a:cs typeface="Arial"/>
                        </a:rPr>
                        <a:t>API)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8816961" y="2865478"/>
            <a:ext cx="9029065" cy="6880859"/>
            <a:chOff x="8816961" y="2865478"/>
            <a:chExt cx="9029065" cy="6880859"/>
          </a:xfrm>
        </p:grpSpPr>
        <p:sp>
          <p:nvSpPr>
            <p:cNvPr id="11" name="object 11"/>
            <p:cNvSpPr/>
            <p:nvPr/>
          </p:nvSpPr>
          <p:spPr>
            <a:xfrm>
              <a:off x="8836011" y="4377800"/>
              <a:ext cx="2577465" cy="3188335"/>
            </a:xfrm>
            <a:custGeom>
              <a:avLst/>
              <a:gdLst/>
              <a:ahLst/>
              <a:cxnLst/>
              <a:rect l="l" t="t" r="r" b="b"/>
              <a:pathLst>
                <a:path w="2577465" h="3188334">
                  <a:moveTo>
                    <a:pt x="612393" y="1665889"/>
                  </a:moveTo>
                  <a:lnTo>
                    <a:pt x="1964824" y="1665889"/>
                  </a:lnTo>
                  <a:lnTo>
                    <a:pt x="2013316" y="1667811"/>
                  </a:lnTo>
                  <a:lnTo>
                    <a:pt x="2061203" y="1673518"/>
                  </a:lnTo>
                  <a:lnTo>
                    <a:pt x="2108279" y="1682926"/>
                  </a:lnTo>
                  <a:lnTo>
                    <a:pt x="2154339" y="1695950"/>
                  </a:lnTo>
                  <a:lnTo>
                    <a:pt x="2199178" y="1712505"/>
                  </a:lnTo>
                  <a:lnTo>
                    <a:pt x="2242589" y="1732505"/>
                  </a:lnTo>
                  <a:lnTo>
                    <a:pt x="2284368" y="1755865"/>
                  </a:lnTo>
                  <a:lnTo>
                    <a:pt x="2324308" y="1782500"/>
                  </a:lnTo>
                  <a:lnTo>
                    <a:pt x="2362204" y="1812326"/>
                  </a:lnTo>
                  <a:lnTo>
                    <a:pt x="2397851" y="1845256"/>
                  </a:lnTo>
                  <a:lnTo>
                    <a:pt x="2430781" y="1880903"/>
                  </a:lnTo>
                  <a:lnTo>
                    <a:pt x="2460607" y="1918799"/>
                  </a:lnTo>
                  <a:lnTo>
                    <a:pt x="2487242" y="1958740"/>
                  </a:lnTo>
                  <a:lnTo>
                    <a:pt x="2510603" y="2000518"/>
                  </a:lnTo>
                  <a:lnTo>
                    <a:pt x="2530603" y="2043930"/>
                  </a:lnTo>
                  <a:lnTo>
                    <a:pt x="2547157" y="2088768"/>
                  </a:lnTo>
                  <a:lnTo>
                    <a:pt x="2560181" y="2134828"/>
                  </a:lnTo>
                  <a:lnTo>
                    <a:pt x="2569589" y="2181904"/>
                  </a:lnTo>
                  <a:lnTo>
                    <a:pt x="2575296" y="2229791"/>
                  </a:lnTo>
                  <a:lnTo>
                    <a:pt x="2577218" y="2278282"/>
                  </a:lnTo>
                  <a:lnTo>
                    <a:pt x="2577218" y="2575881"/>
                  </a:lnTo>
                  <a:lnTo>
                    <a:pt x="2575296" y="2624372"/>
                  </a:lnTo>
                  <a:lnTo>
                    <a:pt x="2569589" y="2672259"/>
                  </a:lnTo>
                  <a:lnTo>
                    <a:pt x="2560181" y="2719335"/>
                  </a:lnTo>
                  <a:lnTo>
                    <a:pt x="2547157" y="2765395"/>
                  </a:lnTo>
                  <a:lnTo>
                    <a:pt x="2530603" y="2810233"/>
                  </a:lnTo>
                  <a:lnTo>
                    <a:pt x="2510603" y="2853645"/>
                  </a:lnTo>
                  <a:lnTo>
                    <a:pt x="2487242" y="2895423"/>
                  </a:lnTo>
                  <a:lnTo>
                    <a:pt x="2460607" y="2935363"/>
                  </a:lnTo>
                  <a:lnTo>
                    <a:pt x="2430781" y="2973260"/>
                  </a:lnTo>
                  <a:lnTo>
                    <a:pt x="2397851" y="3008906"/>
                  </a:lnTo>
                  <a:lnTo>
                    <a:pt x="2362204" y="3041836"/>
                  </a:lnTo>
                  <a:lnTo>
                    <a:pt x="2324308" y="3071661"/>
                  </a:lnTo>
                  <a:lnTo>
                    <a:pt x="2284368" y="3098297"/>
                  </a:lnTo>
                  <a:lnTo>
                    <a:pt x="2242589" y="3121657"/>
                  </a:lnTo>
                  <a:lnTo>
                    <a:pt x="2199178" y="3141657"/>
                  </a:lnTo>
                  <a:lnTo>
                    <a:pt x="2154339" y="3158212"/>
                  </a:lnTo>
                  <a:lnTo>
                    <a:pt x="2108279" y="3171236"/>
                  </a:lnTo>
                  <a:lnTo>
                    <a:pt x="2061203" y="3180645"/>
                  </a:lnTo>
                  <a:lnTo>
                    <a:pt x="2013316" y="3186352"/>
                  </a:lnTo>
                  <a:lnTo>
                    <a:pt x="1964824" y="3188274"/>
                  </a:lnTo>
                  <a:lnTo>
                    <a:pt x="612393" y="3188274"/>
                  </a:lnTo>
                  <a:lnTo>
                    <a:pt x="563902" y="3186352"/>
                  </a:lnTo>
                  <a:lnTo>
                    <a:pt x="516015" y="3180645"/>
                  </a:lnTo>
                  <a:lnTo>
                    <a:pt x="468939" y="3171236"/>
                  </a:lnTo>
                  <a:lnTo>
                    <a:pt x="422879" y="3158212"/>
                  </a:lnTo>
                  <a:lnTo>
                    <a:pt x="378040" y="3141657"/>
                  </a:lnTo>
                  <a:lnTo>
                    <a:pt x="334629" y="3121657"/>
                  </a:lnTo>
                  <a:lnTo>
                    <a:pt x="292850" y="3098297"/>
                  </a:lnTo>
                  <a:lnTo>
                    <a:pt x="252910" y="3071661"/>
                  </a:lnTo>
                  <a:lnTo>
                    <a:pt x="215014" y="3041836"/>
                  </a:lnTo>
                  <a:lnTo>
                    <a:pt x="179367" y="3008906"/>
                  </a:lnTo>
                  <a:lnTo>
                    <a:pt x="146436" y="2973260"/>
                  </a:lnTo>
                  <a:lnTo>
                    <a:pt x="116611" y="2935363"/>
                  </a:lnTo>
                  <a:lnTo>
                    <a:pt x="89975" y="2895423"/>
                  </a:lnTo>
                  <a:lnTo>
                    <a:pt x="66615" y="2853645"/>
                  </a:lnTo>
                  <a:lnTo>
                    <a:pt x="46615" y="2810233"/>
                  </a:lnTo>
                  <a:lnTo>
                    <a:pt x="30060" y="2765395"/>
                  </a:lnTo>
                  <a:lnTo>
                    <a:pt x="17036" y="2719335"/>
                  </a:lnTo>
                  <a:lnTo>
                    <a:pt x="7628" y="2672259"/>
                  </a:lnTo>
                  <a:lnTo>
                    <a:pt x="1921" y="2624372"/>
                  </a:lnTo>
                  <a:lnTo>
                    <a:pt x="0" y="2575881"/>
                  </a:lnTo>
                  <a:lnTo>
                    <a:pt x="0" y="2278282"/>
                  </a:lnTo>
                  <a:lnTo>
                    <a:pt x="1921" y="2229791"/>
                  </a:lnTo>
                  <a:lnTo>
                    <a:pt x="7628" y="2181904"/>
                  </a:lnTo>
                  <a:lnTo>
                    <a:pt x="17036" y="2134828"/>
                  </a:lnTo>
                  <a:lnTo>
                    <a:pt x="30060" y="2088768"/>
                  </a:lnTo>
                  <a:lnTo>
                    <a:pt x="46615" y="2043930"/>
                  </a:lnTo>
                  <a:lnTo>
                    <a:pt x="66615" y="2000518"/>
                  </a:lnTo>
                  <a:lnTo>
                    <a:pt x="89975" y="1958740"/>
                  </a:lnTo>
                  <a:lnTo>
                    <a:pt x="116611" y="1918799"/>
                  </a:lnTo>
                  <a:lnTo>
                    <a:pt x="146436" y="1880903"/>
                  </a:lnTo>
                  <a:lnTo>
                    <a:pt x="179367" y="1845256"/>
                  </a:lnTo>
                  <a:lnTo>
                    <a:pt x="215014" y="1812326"/>
                  </a:lnTo>
                  <a:lnTo>
                    <a:pt x="252910" y="1782500"/>
                  </a:lnTo>
                  <a:lnTo>
                    <a:pt x="292850" y="1755865"/>
                  </a:lnTo>
                  <a:lnTo>
                    <a:pt x="334629" y="1732505"/>
                  </a:lnTo>
                  <a:lnTo>
                    <a:pt x="378040" y="1712505"/>
                  </a:lnTo>
                  <a:lnTo>
                    <a:pt x="422879" y="1695950"/>
                  </a:lnTo>
                  <a:lnTo>
                    <a:pt x="468939" y="1682926"/>
                  </a:lnTo>
                  <a:lnTo>
                    <a:pt x="516015" y="1673518"/>
                  </a:lnTo>
                  <a:lnTo>
                    <a:pt x="563902" y="1667811"/>
                  </a:lnTo>
                  <a:lnTo>
                    <a:pt x="612393" y="1665889"/>
                  </a:lnTo>
                  <a:close/>
                </a:path>
                <a:path w="2577465" h="3188334">
                  <a:moveTo>
                    <a:pt x="679927" y="0"/>
                  </a:moveTo>
                  <a:lnTo>
                    <a:pt x="1952503" y="0"/>
                  </a:lnTo>
                  <a:lnTo>
                    <a:pt x="2003222" y="2869"/>
                  </a:lnTo>
                  <a:lnTo>
                    <a:pt x="2052903" y="11354"/>
                  </a:lnTo>
                  <a:lnTo>
                    <a:pt x="2101106" y="25274"/>
                  </a:lnTo>
                  <a:lnTo>
                    <a:pt x="2147391" y="44446"/>
                  </a:lnTo>
                  <a:lnTo>
                    <a:pt x="2191319" y="68688"/>
                  </a:lnTo>
                  <a:lnTo>
                    <a:pt x="2232449" y="97817"/>
                  </a:lnTo>
                  <a:lnTo>
                    <a:pt x="2270341" y="131652"/>
                  </a:lnTo>
                  <a:lnTo>
                    <a:pt x="2304176" y="169544"/>
                  </a:lnTo>
                  <a:lnTo>
                    <a:pt x="2333305" y="210674"/>
                  </a:lnTo>
                  <a:lnTo>
                    <a:pt x="2357547" y="254602"/>
                  </a:lnTo>
                  <a:lnTo>
                    <a:pt x="2376719" y="300887"/>
                  </a:lnTo>
                  <a:lnTo>
                    <a:pt x="2390639" y="349091"/>
                  </a:lnTo>
                  <a:lnTo>
                    <a:pt x="2399125" y="398772"/>
                  </a:lnTo>
                  <a:lnTo>
                    <a:pt x="2401994" y="449490"/>
                  </a:lnTo>
                  <a:lnTo>
                    <a:pt x="2399356" y="498468"/>
                  </a:lnTo>
                  <a:lnTo>
                    <a:pt x="2391627" y="545917"/>
                  </a:lnTo>
                  <a:lnTo>
                    <a:pt x="2379079" y="591565"/>
                  </a:lnTo>
                  <a:lnTo>
                    <a:pt x="2361987" y="635136"/>
                  </a:lnTo>
                  <a:lnTo>
                    <a:pt x="2340626" y="676358"/>
                  </a:lnTo>
                  <a:lnTo>
                    <a:pt x="2315269" y="714954"/>
                  </a:lnTo>
                  <a:lnTo>
                    <a:pt x="2286190" y="750653"/>
                  </a:lnTo>
                  <a:lnTo>
                    <a:pt x="2253665" y="783178"/>
                  </a:lnTo>
                  <a:lnTo>
                    <a:pt x="2217967" y="812256"/>
                  </a:lnTo>
                  <a:lnTo>
                    <a:pt x="2179370" y="837613"/>
                  </a:lnTo>
                  <a:lnTo>
                    <a:pt x="2138149" y="858974"/>
                  </a:lnTo>
                  <a:lnTo>
                    <a:pt x="2094577" y="876066"/>
                  </a:lnTo>
                  <a:lnTo>
                    <a:pt x="2048930" y="888614"/>
                  </a:lnTo>
                  <a:lnTo>
                    <a:pt x="2001480" y="896344"/>
                  </a:lnTo>
                  <a:lnTo>
                    <a:pt x="1952503" y="898981"/>
                  </a:lnTo>
                  <a:lnTo>
                    <a:pt x="679927" y="898981"/>
                  </a:lnTo>
                  <a:lnTo>
                    <a:pt x="630950" y="896344"/>
                  </a:lnTo>
                  <a:lnTo>
                    <a:pt x="583500" y="888614"/>
                  </a:lnTo>
                  <a:lnTo>
                    <a:pt x="537853" y="876066"/>
                  </a:lnTo>
                  <a:lnTo>
                    <a:pt x="494281" y="858974"/>
                  </a:lnTo>
                  <a:lnTo>
                    <a:pt x="453060" y="837613"/>
                  </a:lnTo>
                  <a:lnTo>
                    <a:pt x="414463" y="812256"/>
                  </a:lnTo>
                  <a:lnTo>
                    <a:pt x="378765" y="783178"/>
                  </a:lnTo>
                  <a:lnTo>
                    <a:pt x="346239" y="750653"/>
                  </a:lnTo>
                  <a:lnTo>
                    <a:pt x="317161" y="714954"/>
                  </a:lnTo>
                  <a:lnTo>
                    <a:pt x="291804" y="676358"/>
                  </a:lnTo>
                  <a:lnTo>
                    <a:pt x="270442" y="635136"/>
                  </a:lnTo>
                  <a:lnTo>
                    <a:pt x="253351" y="591565"/>
                  </a:lnTo>
                  <a:lnTo>
                    <a:pt x="240803" y="545917"/>
                  </a:lnTo>
                  <a:lnTo>
                    <a:pt x="233073" y="498468"/>
                  </a:lnTo>
                  <a:lnTo>
                    <a:pt x="230435" y="449490"/>
                  </a:lnTo>
                  <a:lnTo>
                    <a:pt x="233073" y="400513"/>
                  </a:lnTo>
                  <a:lnTo>
                    <a:pt x="240803" y="353064"/>
                  </a:lnTo>
                  <a:lnTo>
                    <a:pt x="253351" y="307416"/>
                  </a:lnTo>
                  <a:lnTo>
                    <a:pt x="270442" y="263845"/>
                  </a:lnTo>
                  <a:lnTo>
                    <a:pt x="291804" y="222623"/>
                  </a:lnTo>
                  <a:lnTo>
                    <a:pt x="317161" y="184027"/>
                  </a:lnTo>
                  <a:lnTo>
                    <a:pt x="346239" y="148328"/>
                  </a:lnTo>
                  <a:lnTo>
                    <a:pt x="378765" y="115803"/>
                  </a:lnTo>
                  <a:lnTo>
                    <a:pt x="414463" y="86725"/>
                  </a:lnTo>
                  <a:lnTo>
                    <a:pt x="453060" y="61368"/>
                  </a:lnTo>
                  <a:lnTo>
                    <a:pt x="494281" y="40007"/>
                  </a:lnTo>
                  <a:lnTo>
                    <a:pt x="537853" y="22915"/>
                  </a:lnTo>
                  <a:lnTo>
                    <a:pt x="583500" y="10367"/>
                  </a:lnTo>
                  <a:lnTo>
                    <a:pt x="630950" y="2637"/>
                  </a:lnTo>
                  <a:lnTo>
                    <a:pt x="679927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66962" y="7706799"/>
              <a:ext cx="1354369" cy="20392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108186" y="4021402"/>
              <a:ext cx="2889250" cy="2783840"/>
            </a:xfrm>
            <a:custGeom>
              <a:avLst/>
              <a:gdLst/>
              <a:ahLst/>
              <a:cxnLst/>
              <a:rect l="l" t="t" r="r" b="b"/>
              <a:pathLst>
                <a:path w="2889250" h="2783840">
                  <a:moveTo>
                    <a:pt x="0" y="0"/>
                  </a:moveTo>
                  <a:lnTo>
                    <a:pt x="2888932" y="0"/>
                  </a:lnTo>
                  <a:lnTo>
                    <a:pt x="2888932" y="2783479"/>
                  </a:lnTo>
                  <a:lnTo>
                    <a:pt x="0" y="278347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03449" y="2884528"/>
              <a:ext cx="8723630" cy="3920490"/>
            </a:xfrm>
            <a:custGeom>
              <a:avLst/>
              <a:gdLst/>
              <a:ahLst/>
              <a:cxnLst/>
              <a:rect l="l" t="t" r="r" b="b"/>
              <a:pathLst>
                <a:path w="8723630" h="3920490">
                  <a:moveTo>
                    <a:pt x="449490" y="0"/>
                  </a:moveTo>
                  <a:lnTo>
                    <a:pt x="1722067" y="0"/>
                  </a:lnTo>
                  <a:lnTo>
                    <a:pt x="1772786" y="2869"/>
                  </a:lnTo>
                  <a:lnTo>
                    <a:pt x="1822467" y="11354"/>
                  </a:lnTo>
                  <a:lnTo>
                    <a:pt x="1870670" y="25274"/>
                  </a:lnTo>
                  <a:lnTo>
                    <a:pt x="1916955" y="44446"/>
                  </a:lnTo>
                  <a:lnTo>
                    <a:pt x="1960883" y="68688"/>
                  </a:lnTo>
                  <a:lnTo>
                    <a:pt x="2002013" y="97817"/>
                  </a:lnTo>
                  <a:lnTo>
                    <a:pt x="2039905" y="131652"/>
                  </a:lnTo>
                  <a:lnTo>
                    <a:pt x="2073740" y="169544"/>
                  </a:lnTo>
                  <a:lnTo>
                    <a:pt x="2102869" y="210674"/>
                  </a:lnTo>
                  <a:lnTo>
                    <a:pt x="2127111" y="254602"/>
                  </a:lnTo>
                  <a:lnTo>
                    <a:pt x="2146283" y="300887"/>
                  </a:lnTo>
                  <a:lnTo>
                    <a:pt x="2160203" y="349091"/>
                  </a:lnTo>
                  <a:lnTo>
                    <a:pt x="2168688" y="398772"/>
                  </a:lnTo>
                  <a:lnTo>
                    <a:pt x="2171557" y="449491"/>
                  </a:lnTo>
                  <a:lnTo>
                    <a:pt x="2168920" y="498468"/>
                  </a:lnTo>
                  <a:lnTo>
                    <a:pt x="2161190" y="545917"/>
                  </a:lnTo>
                  <a:lnTo>
                    <a:pt x="2148642" y="591565"/>
                  </a:lnTo>
                  <a:lnTo>
                    <a:pt x="2131550" y="635136"/>
                  </a:lnTo>
                  <a:lnTo>
                    <a:pt x="2110189" y="676358"/>
                  </a:lnTo>
                  <a:lnTo>
                    <a:pt x="2084832" y="714954"/>
                  </a:lnTo>
                  <a:lnTo>
                    <a:pt x="2055754" y="750653"/>
                  </a:lnTo>
                  <a:lnTo>
                    <a:pt x="2023228" y="783178"/>
                  </a:lnTo>
                  <a:lnTo>
                    <a:pt x="1987530" y="812256"/>
                  </a:lnTo>
                  <a:lnTo>
                    <a:pt x="1948934" y="837613"/>
                  </a:lnTo>
                  <a:lnTo>
                    <a:pt x="1907712" y="858974"/>
                  </a:lnTo>
                  <a:lnTo>
                    <a:pt x="1864141" y="876066"/>
                  </a:lnTo>
                  <a:lnTo>
                    <a:pt x="1818493" y="888614"/>
                  </a:lnTo>
                  <a:lnTo>
                    <a:pt x="1771044" y="896344"/>
                  </a:lnTo>
                  <a:lnTo>
                    <a:pt x="1722067" y="898981"/>
                  </a:lnTo>
                  <a:lnTo>
                    <a:pt x="449490" y="898981"/>
                  </a:lnTo>
                  <a:lnTo>
                    <a:pt x="400513" y="896344"/>
                  </a:lnTo>
                  <a:lnTo>
                    <a:pt x="353064" y="888614"/>
                  </a:lnTo>
                  <a:lnTo>
                    <a:pt x="307416" y="876066"/>
                  </a:lnTo>
                  <a:lnTo>
                    <a:pt x="263845" y="858974"/>
                  </a:lnTo>
                  <a:lnTo>
                    <a:pt x="222623" y="837613"/>
                  </a:lnTo>
                  <a:lnTo>
                    <a:pt x="184027" y="812256"/>
                  </a:lnTo>
                  <a:lnTo>
                    <a:pt x="148328" y="783178"/>
                  </a:lnTo>
                  <a:lnTo>
                    <a:pt x="115803" y="750653"/>
                  </a:lnTo>
                  <a:lnTo>
                    <a:pt x="86725" y="714954"/>
                  </a:lnTo>
                  <a:lnTo>
                    <a:pt x="61368" y="676358"/>
                  </a:lnTo>
                  <a:lnTo>
                    <a:pt x="40007" y="635136"/>
                  </a:lnTo>
                  <a:lnTo>
                    <a:pt x="22915" y="591565"/>
                  </a:lnTo>
                  <a:lnTo>
                    <a:pt x="10367" y="545917"/>
                  </a:lnTo>
                  <a:lnTo>
                    <a:pt x="2637" y="498468"/>
                  </a:lnTo>
                  <a:lnTo>
                    <a:pt x="0" y="449491"/>
                  </a:lnTo>
                  <a:lnTo>
                    <a:pt x="2637" y="400514"/>
                  </a:lnTo>
                  <a:lnTo>
                    <a:pt x="10367" y="353064"/>
                  </a:lnTo>
                  <a:lnTo>
                    <a:pt x="22915" y="307416"/>
                  </a:lnTo>
                  <a:lnTo>
                    <a:pt x="40007" y="263845"/>
                  </a:lnTo>
                  <a:lnTo>
                    <a:pt x="61368" y="222624"/>
                  </a:lnTo>
                  <a:lnTo>
                    <a:pt x="86725" y="184027"/>
                  </a:lnTo>
                  <a:lnTo>
                    <a:pt x="115803" y="148329"/>
                  </a:lnTo>
                  <a:lnTo>
                    <a:pt x="148328" y="115803"/>
                  </a:lnTo>
                  <a:lnTo>
                    <a:pt x="184027" y="86725"/>
                  </a:lnTo>
                  <a:lnTo>
                    <a:pt x="222623" y="61368"/>
                  </a:lnTo>
                  <a:lnTo>
                    <a:pt x="263845" y="40007"/>
                  </a:lnTo>
                  <a:lnTo>
                    <a:pt x="307416" y="22915"/>
                  </a:lnTo>
                  <a:lnTo>
                    <a:pt x="353064" y="10367"/>
                  </a:lnTo>
                  <a:lnTo>
                    <a:pt x="400513" y="2637"/>
                  </a:lnTo>
                  <a:lnTo>
                    <a:pt x="449490" y="0"/>
                  </a:lnTo>
                  <a:close/>
                </a:path>
                <a:path w="8723630" h="3920490">
                  <a:moveTo>
                    <a:pt x="3340588" y="1401083"/>
                  </a:moveTo>
                  <a:lnTo>
                    <a:pt x="4981936" y="1401083"/>
                  </a:lnTo>
                  <a:lnTo>
                    <a:pt x="5039855" y="1402440"/>
                  </a:lnTo>
                  <a:lnTo>
                    <a:pt x="5096525" y="1406449"/>
                  </a:lnTo>
                  <a:lnTo>
                    <a:pt x="5151807" y="1413013"/>
                  </a:lnTo>
                  <a:lnTo>
                    <a:pt x="5205559" y="1422036"/>
                  </a:lnTo>
                  <a:lnTo>
                    <a:pt x="5257640" y="1433424"/>
                  </a:lnTo>
                  <a:lnTo>
                    <a:pt x="5307909" y="1447080"/>
                  </a:lnTo>
                  <a:lnTo>
                    <a:pt x="5356225" y="1462909"/>
                  </a:lnTo>
                  <a:lnTo>
                    <a:pt x="5402446" y="1480814"/>
                  </a:lnTo>
                  <a:lnTo>
                    <a:pt x="5446432" y="1500701"/>
                  </a:lnTo>
                  <a:lnTo>
                    <a:pt x="5488041" y="1522473"/>
                  </a:lnTo>
                  <a:lnTo>
                    <a:pt x="5527132" y="1546035"/>
                  </a:lnTo>
                  <a:lnTo>
                    <a:pt x="5563565" y="1571292"/>
                  </a:lnTo>
                  <a:lnTo>
                    <a:pt x="5597197" y="1598146"/>
                  </a:lnTo>
                  <a:lnTo>
                    <a:pt x="5627889" y="1626504"/>
                  </a:lnTo>
                  <a:lnTo>
                    <a:pt x="5655498" y="1656268"/>
                  </a:lnTo>
                  <a:lnTo>
                    <a:pt x="5679884" y="1687344"/>
                  </a:lnTo>
                  <a:lnTo>
                    <a:pt x="5700905" y="1719636"/>
                  </a:lnTo>
                  <a:lnTo>
                    <a:pt x="5732290" y="1787483"/>
                  </a:lnTo>
                  <a:lnTo>
                    <a:pt x="5748523" y="1859045"/>
                  </a:lnTo>
                  <a:lnTo>
                    <a:pt x="5750605" y="1895979"/>
                  </a:lnTo>
                  <a:lnTo>
                    <a:pt x="5748523" y="1932914"/>
                  </a:lnTo>
                  <a:lnTo>
                    <a:pt x="5732290" y="2004476"/>
                  </a:lnTo>
                  <a:lnTo>
                    <a:pt x="5700905" y="2072324"/>
                  </a:lnTo>
                  <a:lnTo>
                    <a:pt x="5679884" y="2104616"/>
                  </a:lnTo>
                  <a:lnTo>
                    <a:pt x="5655498" y="2135692"/>
                  </a:lnTo>
                  <a:lnTo>
                    <a:pt x="5627889" y="2165456"/>
                  </a:lnTo>
                  <a:lnTo>
                    <a:pt x="5597197" y="2193814"/>
                  </a:lnTo>
                  <a:lnTo>
                    <a:pt x="5563565" y="2220668"/>
                  </a:lnTo>
                  <a:lnTo>
                    <a:pt x="5527132" y="2245924"/>
                  </a:lnTo>
                  <a:lnTo>
                    <a:pt x="5488041" y="2269486"/>
                  </a:lnTo>
                  <a:lnTo>
                    <a:pt x="5446432" y="2291259"/>
                  </a:lnTo>
                  <a:lnTo>
                    <a:pt x="5402446" y="2311145"/>
                  </a:lnTo>
                  <a:lnTo>
                    <a:pt x="5356225" y="2329050"/>
                  </a:lnTo>
                  <a:lnTo>
                    <a:pt x="5307909" y="2344879"/>
                  </a:lnTo>
                  <a:lnTo>
                    <a:pt x="5257640" y="2358535"/>
                  </a:lnTo>
                  <a:lnTo>
                    <a:pt x="5205559" y="2369922"/>
                  </a:lnTo>
                  <a:lnTo>
                    <a:pt x="5151807" y="2378946"/>
                  </a:lnTo>
                  <a:lnTo>
                    <a:pt x="5096525" y="2385510"/>
                  </a:lnTo>
                  <a:lnTo>
                    <a:pt x="5039855" y="2389518"/>
                  </a:lnTo>
                  <a:lnTo>
                    <a:pt x="4981936" y="2390875"/>
                  </a:lnTo>
                  <a:lnTo>
                    <a:pt x="3340588" y="2390875"/>
                  </a:lnTo>
                  <a:lnTo>
                    <a:pt x="3294939" y="2385617"/>
                  </a:lnTo>
                  <a:lnTo>
                    <a:pt x="3253034" y="2370640"/>
                  </a:lnTo>
                  <a:lnTo>
                    <a:pt x="3216069" y="2347138"/>
                  </a:lnTo>
                  <a:lnTo>
                    <a:pt x="3185238" y="2316308"/>
                  </a:lnTo>
                  <a:lnTo>
                    <a:pt x="3161736" y="2279343"/>
                  </a:lnTo>
                  <a:lnTo>
                    <a:pt x="3146758" y="2237439"/>
                  </a:lnTo>
                  <a:lnTo>
                    <a:pt x="3141500" y="2191791"/>
                  </a:lnTo>
                  <a:lnTo>
                    <a:pt x="3141500" y="1600171"/>
                  </a:lnTo>
                  <a:lnTo>
                    <a:pt x="3145361" y="1561149"/>
                  </a:lnTo>
                  <a:lnTo>
                    <a:pt x="3156655" y="1523982"/>
                  </a:lnTo>
                  <a:lnTo>
                    <a:pt x="3174949" y="1489716"/>
                  </a:lnTo>
                  <a:lnTo>
                    <a:pt x="3199810" y="1459393"/>
                  </a:lnTo>
                  <a:lnTo>
                    <a:pt x="3230133" y="1434532"/>
                  </a:lnTo>
                  <a:lnTo>
                    <a:pt x="3264399" y="1416238"/>
                  </a:lnTo>
                  <a:lnTo>
                    <a:pt x="3301566" y="1404944"/>
                  </a:lnTo>
                  <a:lnTo>
                    <a:pt x="3340588" y="1401083"/>
                  </a:lnTo>
                  <a:close/>
                </a:path>
                <a:path w="8723630" h="3920490">
                  <a:moveTo>
                    <a:pt x="3343727" y="2754808"/>
                  </a:moveTo>
                  <a:lnTo>
                    <a:pt x="4985090" y="2754808"/>
                  </a:lnTo>
                  <a:lnTo>
                    <a:pt x="5043009" y="2756166"/>
                  </a:lnTo>
                  <a:lnTo>
                    <a:pt x="5099681" y="2760175"/>
                  </a:lnTo>
                  <a:lnTo>
                    <a:pt x="5154963" y="2766739"/>
                  </a:lnTo>
                  <a:lnTo>
                    <a:pt x="5208716" y="2775762"/>
                  </a:lnTo>
                  <a:lnTo>
                    <a:pt x="5260798" y="2787150"/>
                  </a:lnTo>
                  <a:lnTo>
                    <a:pt x="5311067" y="2800806"/>
                  </a:lnTo>
                  <a:lnTo>
                    <a:pt x="5359384" y="2816635"/>
                  </a:lnTo>
                  <a:lnTo>
                    <a:pt x="5405606" y="2834541"/>
                  </a:lnTo>
                  <a:lnTo>
                    <a:pt x="5449592" y="2854428"/>
                  </a:lnTo>
                  <a:lnTo>
                    <a:pt x="5491201" y="2876200"/>
                  </a:lnTo>
                  <a:lnTo>
                    <a:pt x="5530293" y="2899763"/>
                  </a:lnTo>
                  <a:lnTo>
                    <a:pt x="5566726" y="2925019"/>
                  </a:lnTo>
                  <a:lnTo>
                    <a:pt x="5600359" y="2951874"/>
                  </a:lnTo>
                  <a:lnTo>
                    <a:pt x="5631051" y="2980232"/>
                  </a:lnTo>
                  <a:lnTo>
                    <a:pt x="5658661" y="3009997"/>
                  </a:lnTo>
                  <a:lnTo>
                    <a:pt x="5683047" y="3041073"/>
                  </a:lnTo>
                  <a:lnTo>
                    <a:pt x="5704068" y="3073365"/>
                  </a:lnTo>
                  <a:lnTo>
                    <a:pt x="5735453" y="3141213"/>
                  </a:lnTo>
                  <a:lnTo>
                    <a:pt x="5751687" y="3212776"/>
                  </a:lnTo>
                  <a:lnTo>
                    <a:pt x="5753769" y="3249710"/>
                  </a:lnTo>
                  <a:lnTo>
                    <a:pt x="5751687" y="3286646"/>
                  </a:lnTo>
                  <a:lnTo>
                    <a:pt x="5735453" y="3358209"/>
                  </a:lnTo>
                  <a:lnTo>
                    <a:pt x="5704068" y="3426057"/>
                  </a:lnTo>
                  <a:lnTo>
                    <a:pt x="5683047" y="3458349"/>
                  </a:lnTo>
                  <a:lnTo>
                    <a:pt x="5658661" y="3489426"/>
                  </a:lnTo>
                  <a:lnTo>
                    <a:pt x="5631051" y="3519190"/>
                  </a:lnTo>
                  <a:lnTo>
                    <a:pt x="5600359" y="3547548"/>
                  </a:lnTo>
                  <a:lnTo>
                    <a:pt x="5566726" y="3574403"/>
                  </a:lnTo>
                  <a:lnTo>
                    <a:pt x="5530293" y="3599659"/>
                  </a:lnTo>
                  <a:lnTo>
                    <a:pt x="5491201" y="3623222"/>
                  </a:lnTo>
                  <a:lnTo>
                    <a:pt x="5449592" y="3644994"/>
                  </a:lnTo>
                  <a:lnTo>
                    <a:pt x="5405606" y="3664881"/>
                  </a:lnTo>
                  <a:lnTo>
                    <a:pt x="5359384" y="3682786"/>
                  </a:lnTo>
                  <a:lnTo>
                    <a:pt x="5311067" y="3698615"/>
                  </a:lnTo>
                  <a:lnTo>
                    <a:pt x="5260798" y="3712271"/>
                  </a:lnTo>
                  <a:lnTo>
                    <a:pt x="5208716" y="3723658"/>
                  </a:lnTo>
                  <a:lnTo>
                    <a:pt x="5154963" y="3732682"/>
                  </a:lnTo>
                  <a:lnTo>
                    <a:pt x="5099681" y="3739246"/>
                  </a:lnTo>
                  <a:lnTo>
                    <a:pt x="5043009" y="3743255"/>
                  </a:lnTo>
                  <a:lnTo>
                    <a:pt x="4985090" y="3744612"/>
                  </a:lnTo>
                  <a:lnTo>
                    <a:pt x="3343727" y="3744612"/>
                  </a:lnTo>
                  <a:lnTo>
                    <a:pt x="3298077" y="3739354"/>
                  </a:lnTo>
                  <a:lnTo>
                    <a:pt x="3256172" y="3724376"/>
                  </a:lnTo>
                  <a:lnTo>
                    <a:pt x="3219206" y="3700875"/>
                  </a:lnTo>
                  <a:lnTo>
                    <a:pt x="3188375" y="3670044"/>
                  </a:lnTo>
                  <a:lnTo>
                    <a:pt x="3164873" y="3633078"/>
                  </a:lnTo>
                  <a:lnTo>
                    <a:pt x="3149895" y="3591174"/>
                  </a:lnTo>
                  <a:lnTo>
                    <a:pt x="3144637" y="3545526"/>
                  </a:lnTo>
                  <a:lnTo>
                    <a:pt x="3144637" y="2953899"/>
                  </a:lnTo>
                  <a:lnTo>
                    <a:pt x="3148498" y="2914876"/>
                  </a:lnTo>
                  <a:lnTo>
                    <a:pt x="3159792" y="2877709"/>
                  </a:lnTo>
                  <a:lnTo>
                    <a:pt x="3178087" y="2843442"/>
                  </a:lnTo>
                  <a:lnTo>
                    <a:pt x="3202948" y="2813119"/>
                  </a:lnTo>
                  <a:lnTo>
                    <a:pt x="3233271" y="2788258"/>
                  </a:lnTo>
                  <a:lnTo>
                    <a:pt x="3267538" y="2769964"/>
                  </a:lnTo>
                  <a:lnTo>
                    <a:pt x="3304704" y="2758669"/>
                  </a:lnTo>
                  <a:lnTo>
                    <a:pt x="3343727" y="2754808"/>
                  </a:lnTo>
                  <a:close/>
                </a:path>
                <a:path w="8723630" h="3920490">
                  <a:moveTo>
                    <a:pt x="8723380" y="2466637"/>
                  </a:moveTo>
                  <a:lnTo>
                    <a:pt x="8723380" y="3396480"/>
                  </a:lnTo>
                  <a:lnTo>
                    <a:pt x="8721239" y="3444163"/>
                  </a:lnTo>
                  <a:lnTo>
                    <a:pt x="8714940" y="3490647"/>
                  </a:lnTo>
                  <a:lnTo>
                    <a:pt x="8704667" y="3535746"/>
                  </a:lnTo>
                  <a:lnTo>
                    <a:pt x="8690605" y="3579276"/>
                  </a:lnTo>
                  <a:lnTo>
                    <a:pt x="8672940" y="3621052"/>
                  </a:lnTo>
                  <a:lnTo>
                    <a:pt x="8651856" y="3660889"/>
                  </a:lnTo>
                  <a:lnTo>
                    <a:pt x="8627538" y="3698602"/>
                  </a:lnTo>
                  <a:lnTo>
                    <a:pt x="8600171" y="3734005"/>
                  </a:lnTo>
                  <a:lnTo>
                    <a:pt x="8569941" y="3766915"/>
                  </a:lnTo>
                  <a:lnTo>
                    <a:pt x="8537031" y="3797145"/>
                  </a:lnTo>
                  <a:lnTo>
                    <a:pt x="8501627" y="3824512"/>
                  </a:lnTo>
                  <a:lnTo>
                    <a:pt x="8463915" y="3848830"/>
                  </a:lnTo>
                  <a:lnTo>
                    <a:pt x="8424078" y="3869914"/>
                  </a:lnTo>
                  <a:lnTo>
                    <a:pt x="8382302" y="3887579"/>
                  </a:lnTo>
                  <a:lnTo>
                    <a:pt x="8338772" y="3901641"/>
                  </a:lnTo>
                  <a:lnTo>
                    <a:pt x="8293672" y="3911914"/>
                  </a:lnTo>
                  <a:lnTo>
                    <a:pt x="8247188" y="3918213"/>
                  </a:lnTo>
                  <a:lnTo>
                    <a:pt x="8199505" y="3920354"/>
                  </a:lnTo>
                  <a:lnTo>
                    <a:pt x="7269663" y="3920354"/>
                  </a:lnTo>
                  <a:lnTo>
                    <a:pt x="7221980" y="3918213"/>
                  </a:lnTo>
                  <a:lnTo>
                    <a:pt x="7175496" y="3911914"/>
                  </a:lnTo>
                  <a:lnTo>
                    <a:pt x="7130396" y="3901641"/>
                  </a:lnTo>
                  <a:lnTo>
                    <a:pt x="7086866" y="3887579"/>
                  </a:lnTo>
                  <a:lnTo>
                    <a:pt x="7045090" y="3869914"/>
                  </a:lnTo>
                  <a:lnTo>
                    <a:pt x="7005253" y="3848830"/>
                  </a:lnTo>
                  <a:lnTo>
                    <a:pt x="6967541" y="3824512"/>
                  </a:lnTo>
                  <a:lnTo>
                    <a:pt x="6932137" y="3797145"/>
                  </a:lnTo>
                  <a:lnTo>
                    <a:pt x="6899227" y="3766915"/>
                  </a:lnTo>
                  <a:lnTo>
                    <a:pt x="6868997" y="3734005"/>
                  </a:lnTo>
                  <a:lnTo>
                    <a:pt x="6841630" y="3698602"/>
                  </a:lnTo>
                  <a:lnTo>
                    <a:pt x="6817312" y="3660889"/>
                  </a:lnTo>
                  <a:lnTo>
                    <a:pt x="6796228" y="3621052"/>
                  </a:lnTo>
                  <a:lnTo>
                    <a:pt x="6778563" y="3579276"/>
                  </a:lnTo>
                  <a:lnTo>
                    <a:pt x="6764501" y="3535746"/>
                  </a:lnTo>
                  <a:lnTo>
                    <a:pt x="6754228" y="3490647"/>
                  </a:lnTo>
                  <a:lnTo>
                    <a:pt x="6747929" y="3444163"/>
                  </a:lnTo>
                  <a:lnTo>
                    <a:pt x="6745788" y="3396480"/>
                  </a:lnTo>
                  <a:lnTo>
                    <a:pt x="6745788" y="2466637"/>
                  </a:lnTo>
                  <a:lnTo>
                    <a:pt x="6747929" y="2418954"/>
                  </a:lnTo>
                  <a:lnTo>
                    <a:pt x="6754228" y="2372470"/>
                  </a:lnTo>
                  <a:lnTo>
                    <a:pt x="6764501" y="2327370"/>
                  </a:lnTo>
                  <a:lnTo>
                    <a:pt x="6778563" y="2283840"/>
                  </a:lnTo>
                  <a:lnTo>
                    <a:pt x="6796228" y="2242064"/>
                  </a:lnTo>
                  <a:lnTo>
                    <a:pt x="6817312" y="2202227"/>
                  </a:lnTo>
                  <a:lnTo>
                    <a:pt x="6841630" y="2164515"/>
                  </a:lnTo>
                  <a:lnTo>
                    <a:pt x="6868997" y="2129111"/>
                  </a:lnTo>
                  <a:lnTo>
                    <a:pt x="6899227" y="2096202"/>
                  </a:lnTo>
                  <a:lnTo>
                    <a:pt x="6932137" y="2065971"/>
                  </a:lnTo>
                  <a:lnTo>
                    <a:pt x="6967541" y="2038604"/>
                  </a:lnTo>
                  <a:lnTo>
                    <a:pt x="7005253" y="2014286"/>
                  </a:lnTo>
                  <a:lnTo>
                    <a:pt x="7045090" y="1993202"/>
                  </a:lnTo>
                  <a:lnTo>
                    <a:pt x="7086866" y="1975537"/>
                  </a:lnTo>
                  <a:lnTo>
                    <a:pt x="7130396" y="1961475"/>
                  </a:lnTo>
                  <a:lnTo>
                    <a:pt x="7175496" y="1951202"/>
                  </a:lnTo>
                  <a:lnTo>
                    <a:pt x="7221980" y="1944903"/>
                  </a:lnTo>
                  <a:lnTo>
                    <a:pt x="7269663" y="1942762"/>
                  </a:lnTo>
                  <a:lnTo>
                    <a:pt x="8199505" y="1942762"/>
                  </a:lnTo>
                  <a:lnTo>
                    <a:pt x="8247188" y="1944903"/>
                  </a:lnTo>
                  <a:lnTo>
                    <a:pt x="8293672" y="1951202"/>
                  </a:lnTo>
                  <a:lnTo>
                    <a:pt x="8338772" y="1961475"/>
                  </a:lnTo>
                  <a:lnTo>
                    <a:pt x="8382302" y="1975537"/>
                  </a:lnTo>
                  <a:lnTo>
                    <a:pt x="8424078" y="1993202"/>
                  </a:lnTo>
                  <a:lnTo>
                    <a:pt x="8463915" y="2014286"/>
                  </a:lnTo>
                  <a:lnTo>
                    <a:pt x="8501627" y="2038604"/>
                  </a:lnTo>
                  <a:lnTo>
                    <a:pt x="8537031" y="2065971"/>
                  </a:lnTo>
                  <a:lnTo>
                    <a:pt x="8569941" y="2096202"/>
                  </a:lnTo>
                  <a:lnTo>
                    <a:pt x="8600171" y="2129111"/>
                  </a:lnTo>
                  <a:lnTo>
                    <a:pt x="8627538" y="2164515"/>
                  </a:lnTo>
                  <a:lnTo>
                    <a:pt x="8651856" y="2202227"/>
                  </a:lnTo>
                  <a:lnTo>
                    <a:pt x="8672940" y="2242064"/>
                  </a:lnTo>
                  <a:lnTo>
                    <a:pt x="8690605" y="2283840"/>
                  </a:lnTo>
                  <a:lnTo>
                    <a:pt x="8704667" y="2327370"/>
                  </a:lnTo>
                  <a:lnTo>
                    <a:pt x="8714940" y="2372470"/>
                  </a:lnTo>
                  <a:lnTo>
                    <a:pt x="8721239" y="2418954"/>
                  </a:lnTo>
                  <a:lnTo>
                    <a:pt x="8723380" y="2466637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88724" y="5924422"/>
              <a:ext cx="1405890" cy="1325880"/>
            </a:xfrm>
            <a:custGeom>
              <a:avLst/>
              <a:gdLst/>
              <a:ahLst/>
              <a:cxnLst/>
              <a:rect l="l" t="t" r="r" b="b"/>
              <a:pathLst>
                <a:path w="1405890" h="1325879">
                  <a:moveTo>
                    <a:pt x="0" y="1325740"/>
                  </a:moveTo>
                  <a:lnTo>
                    <a:pt x="1405347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28866" y="7205561"/>
              <a:ext cx="201098" cy="2010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31838" y="5786726"/>
              <a:ext cx="207054" cy="20252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302454" y="3710022"/>
              <a:ext cx="1116330" cy="829310"/>
            </a:xfrm>
            <a:custGeom>
              <a:avLst/>
              <a:gdLst/>
              <a:ahLst/>
              <a:cxnLst/>
              <a:rect l="l" t="t" r="r" b="b"/>
              <a:pathLst>
                <a:path w="1116329" h="829310">
                  <a:moveTo>
                    <a:pt x="0" y="0"/>
                  </a:moveTo>
                  <a:lnTo>
                    <a:pt x="1116046" y="82889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37288" y="3561699"/>
              <a:ext cx="199419" cy="19941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61927" y="4469346"/>
              <a:ext cx="214428" cy="19171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406973" y="6134238"/>
              <a:ext cx="1630045" cy="0"/>
            </a:xfrm>
            <a:custGeom>
              <a:avLst/>
              <a:gdLst/>
              <a:ahLst/>
              <a:cxnLst/>
              <a:rect l="l" t="t" r="r" b="b"/>
              <a:pathLst>
                <a:path w="1630044">
                  <a:moveTo>
                    <a:pt x="0" y="0"/>
                  </a:moveTo>
                  <a:lnTo>
                    <a:pt x="1630033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17957" y="6052258"/>
              <a:ext cx="211002" cy="16396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4635573" y="6153288"/>
              <a:ext cx="1630045" cy="0"/>
            </a:xfrm>
            <a:custGeom>
              <a:avLst/>
              <a:gdLst/>
              <a:ahLst/>
              <a:cxnLst/>
              <a:rect l="l" t="t" r="r" b="b"/>
              <a:pathLst>
                <a:path w="1630044">
                  <a:moveTo>
                    <a:pt x="0" y="0"/>
                  </a:moveTo>
                  <a:lnTo>
                    <a:pt x="1630033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443622" y="6071308"/>
              <a:ext cx="211000" cy="16396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3639497" y="6837380"/>
              <a:ext cx="726440" cy="939165"/>
            </a:xfrm>
            <a:custGeom>
              <a:avLst/>
              <a:gdLst/>
              <a:ahLst/>
              <a:cxnLst/>
              <a:rect l="l" t="t" r="r" b="b"/>
              <a:pathLst>
                <a:path w="726440" h="939165">
                  <a:moveTo>
                    <a:pt x="470169" y="938926"/>
                  </a:moveTo>
                  <a:lnTo>
                    <a:pt x="255925" y="938926"/>
                  </a:lnTo>
                  <a:lnTo>
                    <a:pt x="255925" y="511853"/>
                  </a:lnTo>
                  <a:lnTo>
                    <a:pt x="0" y="511853"/>
                  </a:lnTo>
                  <a:lnTo>
                    <a:pt x="363047" y="0"/>
                  </a:lnTo>
                  <a:lnTo>
                    <a:pt x="726096" y="511853"/>
                  </a:lnTo>
                  <a:lnTo>
                    <a:pt x="470169" y="511853"/>
                  </a:lnTo>
                  <a:lnTo>
                    <a:pt x="470169" y="938926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639497" y="6837380"/>
              <a:ext cx="726440" cy="939165"/>
            </a:xfrm>
            <a:custGeom>
              <a:avLst/>
              <a:gdLst/>
              <a:ahLst/>
              <a:cxnLst/>
              <a:rect l="l" t="t" r="r" b="b"/>
              <a:pathLst>
                <a:path w="726440" h="939165">
                  <a:moveTo>
                    <a:pt x="363047" y="0"/>
                  </a:moveTo>
                  <a:lnTo>
                    <a:pt x="0" y="511853"/>
                  </a:lnTo>
                  <a:lnTo>
                    <a:pt x="255925" y="511853"/>
                  </a:lnTo>
                  <a:lnTo>
                    <a:pt x="255925" y="938926"/>
                  </a:lnTo>
                  <a:lnTo>
                    <a:pt x="470169" y="938926"/>
                  </a:lnTo>
                  <a:lnTo>
                    <a:pt x="470169" y="511853"/>
                  </a:lnTo>
                  <a:lnTo>
                    <a:pt x="726096" y="511853"/>
                  </a:lnTo>
                  <a:lnTo>
                    <a:pt x="363047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822546" y="6835070"/>
              <a:ext cx="726440" cy="941705"/>
            </a:xfrm>
            <a:custGeom>
              <a:avLst/>
              <a:gdLst/>
              <a:ahLst/>
              <a:cxnLst/>
              <a:rect l="l" t="t" r="r" b="b"/>
              <a:pathLst>
                <a:path w="726440" h="941704">
                  <a:moveTo>
                    <a:pt x="374563" y="941114"/>
                  </a:moveTo>
                  <a:lnTo>
                    <a:pt x="0" y="437627"/>
                  </a:lnTo>
                  <a:lnTo>
                    <a:pt x="255860" y="431822"/>
                  </a:lnTo>
                  <a:lnTo>
                    <a:pt x="246174" y="4859"/>
                  </a:lnTo>
                  <a:lnTo>
                    <a:pt x="460364" y="0"/>
                  </a:lnTo>
                  <a:lnTo>
                    <a:pt x="470048" y="426963"/>
                  </a:lnTo>
                  <a:lnTo>
                    <a:pt x="725910" y="421160"/>
                  </a:lnTo>
                  <a:lnTo>
                    <a:pt x="374563" y="941114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822546" y="6835070"/>
              <a:ext cx="726440" cy="941705"/>
            </a:xfrm>
            <a:custGeom>
              <a:avLst/>
              <a:gdLst/>
              <a:ahLst/>
              <a:cxnLst/>
              <a:rect l="l" t="t" r="r" b="b"/>
              <a:pathLst>
                <a:path w="726440" h="941704">
                  <a:moveTo>
                    <a:pt x="374563" y="941114"/>
                  </a:moveTo>
                  <a:lnTo>
                    <a:pt x="725910" y="421160"/>
                  </a:lnTo>
                  <a:lnTo>
                    <a:pt x="470048" y="426963"/>
                  </a:lnTo>
                  <a:lnTo>
                    <a:pt x="460364" y="0"/>
                  </a:lnTo>
                  <a:lnTo>
                    <a:pt x="246174" y="4859"/>
                  </a:lnTo>
                  <a:lnTo>
                    <a:pt x="255860" y="431822"/>
                  </a:lnTo>
                  <a:lnTo>
                    <a:pt x="0" y="437627"/>
                  </a:lnTo>
                  <a:lnTo>
                    <a:pt x="374563" y="941114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xfrm>
            <a:off x="3072650" y="381338"/>
            <a:ext cx="133604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9065" algn="l"/>
                <a:tab pos="5879465" algn="l"/>
                <a:tab pos="6946265" algn="l"/>
              </a:tabLst>
            </a:pPr>
            <a:r>
              <a:rPr spc="1295" dirty="0">
                <a:solidFill>
                  <a:srgbClr val="7B33BA"/>
                </a:solidFill>
              </a:rPr>
              <a:t>TECH</a:t>
            </a:r>
            <a:r>
              <a:rPr dirty="0">
                <a:solidFill>
                  <a:srgbClr val="7B33BA"/>
                </a:solidFill>
              </a:rPr>
              <a:t>	</a:t>
            </a:r>
            <a:r>
              <a:rPr spc="1390" dirty="0">
                <a:solidFill>
                  <a:srgbClr val="7B33BA"/>
                </a:solidFill>
              </a:rPr>
              <a:t>STACK</a:t>
            </a:r>
            <a:r>
              <a:rPr dirty="0">
                <a:solidFill>
                  <a:srgbClr val="7B33BA"/>
                </a:solidFill>
              </a:rPr>
              <a:t>	</a:t>
            </a:r>
            <a:r>
              <a:rPr spc="1350" dirty="0">
                <a:solidFill>
                  <a:srgbClr val="7B33BA"/>
                </a:solidFill>
              </a:rPr>
              <a:t>&amp;</a:t>
            </a:r>
            <a:r>
              <a:rPr dirty="0">
                <a:solidFill>
                  <a:srgbClr val="7B33BA"/>
                </a:solidFill>
              </a:rPr>
              <a:t>	</a:t>
            </a:r>
            <a:r>
              <a:rPr spc="1440" dirty="0">
                <a:solidFill>
                  <a:srgbClr val="7B33BA"/>
                </a:solidFill>
              </a:rPr>
              <a:t>ARCHITECTURE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9364096" y="3037385"/>
            <a:ext cx="1492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7B33BA"/>
                </a:solidFill>
                <a:latin typeface="Arial"/>
                <a:cs typeface="Arial"/>
              </a:rPr>
              <a:t>Client</a:t>
            </a:r>
            <a:r>
              <a:rPr sz="3200" b="1" spc="-5" dirty="0">
                <a:solidFill>
                  <a:srgbClr val="7B33BA"/>
                </a:solidFill>
                <a:latin typeface="Arial"/>
                <a:cs typeface="Arial"/>
              </a:rPr>
              <a:t> </a:t>
            </a:r>
            <a:r>
              <a:rPr sz="3200" b="1" spc="-50" dirty="0">
                <a:solidFill>
                  <a:srgbClr val="7B33BA"/>
                </a:solidFill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92262" y="4398281"/>
            <a:ext cx="14928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7B33BA"/>
                </a:solidFill>
                <a:latin typeface="Arial"/>
                <a:cs typeface="Arial"/>
              </a:rPr>
              <a:t>Client</a:t>
            </a:r>
            <a:r>
              <a:rPr sz="3200" b="1" spc="-5" dirty="0">
                <a:solidFill>
                  <a:srgbClr val="7B33BA"/>
                </a:solidFill>
                <a:latin typeface="Arial"/>
                <a:cs typeface="Arial"/>
              </a:rPr>
              <a:t> </a:t>
            </a:r>
            <a:r>
              <a:rPr sz="3200" b="1" spc="-50" dirty="0">
                <a:solidFill>
                  <a:srgbClr val="7B33BA"/>
                </a:solidFill>
                <a:latin typeface="Arial"/>
                <a:cs typeface="Arial"/>
              </a:rPr>
              <a:t>2</a:t>
            </a:r>
            <a:endParaRPr sz="3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46768" y="5828277"/>
            <a:ext cx="1854835" cy="1330325"/>
          </a:xfrm>
          <a:prstGeom prst="rect">
            <a:avLst/>
          </a:prstGeom>
        </p:spPr>
        <p:txBody>
          <a:bodyPr vert="horz" wrap="square" lIns="0" tIns="232410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830"/>
              </a:spcBef>
            </a:pPr>
            <a:r>
              <a:rPr sz="3200" b="1" dirty="0">
                <a:solidFill>
                  <a:srgbClr val="7B33BA"/>
                </a:solidFill>
                <a:latin typeface="Arial"/>
                <a:cs typeface="Arial"/>
              </a:rPr>
              <a:t>Client</a:t>
            </a:r>
            <a:r>
              <a:rPr sz="3200" b="1" spc="-5" dirty="0">
                <a:solidFill>
                  <a:srgbClr val="7B33BA"/>
                </a:solidFill>
                <a:latin typeface="Arial"/>
                <a:cs typeface="Arial"/>
              </a:rPr>
              <a:t> </a:t>
            </a:r>
            <a:r>
              <a:rPr sz="3200" b="1" spc="-50" dirty="0">
                <a:solidFill>
                  <a:srgbClr val="7B33BA"/>
                </a:solidFill>
                <a:latin typeface="Arial"/>
                <a:cs typeface="Arial"/>
              </a:rPr>
              <a:t>3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700" b="1" spc="-10" dirty="0">
                <a:latin typeface="Arial"/>
                <a:cs typeface="Arial"/>
              </a:rPr>
              <a:t>Summarize</a:t>
            </a:r>
            <a:endParaRPr sz="27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633720" y="4592161"/>
            <a:ext cx="21697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solidFill>
                  <a:srgbClr val="470084"/>
                </a:solidFill>
                <a:latin typeface="Arial"/>
                <a:cs typeface="Arial"/>
              </a:rPr>
              <a:t>WEBSOCKET</a:t>
            </a:r>
            <a:endParaRPr sz="2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968215" y="5808547"/>
            <a:ext cx="114173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20" dirty="0">
                <a:solidFill>
                  <a:srgbClr val="470084"/>
                </a:solidFill>
                <a:latin typeface="Arial"/>
                <a:cs typeface="Arial"/>
              </a:rPr>
              <a:t>REST</a:t>
            </a:r>
            <a:endParaRPr sz="33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347141" y="6186838"/>
            <a:ext cx="958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0" dirty="0">
                <a:latin typeface="Arial"/>
                <a:cs typeface="Arial"/>
              </a:rPr>
              <a:t>(LLM)</a:t>
            </a:r>
            <a:endParaRPr sz="27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210060" y="1789661"/>
            <a:ext cx="28187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latin typeface="Arial"/>
                <a:cs typeface="Arial"/>
              </a:rPr>
              <a:t>BACKEND</a:t>
            </a:r>
            <a:endParaRPr sz="4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449795" y="2558047"/>
            <a:ext cx="2339340" cy="1376045"/>
          </a:xfrm>
          <a:prstGeom prst="rect">
            <a:avLst/>
          </a:prstGeom>
        </p:spPr>
        <p:txBody>
          <a:bodyPr vert="horz" wrap="square" lIns="0" tIns="221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45"/>
              </a:spcBef>
            </a:pPr>
            <a:r>
              <a:rPr sz="3200" b="1" spc="-10" dirty="0">
                <a:latin typeface="Arial"/>
                <a:cs typeface="Arial"/>
              </a:rPr>
              <a:t>SPRING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45"/>
              </a:spcBef>
            </a:pPr>
            <a:r>
              <a:rPr sz="3000" b="1" spc="-35" dirty="0">
                <a:latin typeface="Arial"/>
                <a:cs typeface="Arial"/>
              </a:rPr>
              <a:t>BOOT(JAVA)</a:t>
            </a:r>
            <a:endParaRPr sz="3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203987" y="4052867"/>
            <a:ext cx="1243330" cy="1995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4604" algn="ctr">
              <a:lnSpc>
                <a:spcPct val="100000"/>
              </a:lnSpc>
              <a:spcBef>
                <a:spcPts val="100"/>
              </a:spcBef>
            </a:pPr>
            <a:r>
              <a:rPr sz="4100" b="1" spc="-25" dirty="0">
                <a:latin typeface="Arial"/>
                <a:cs typeface="Arial"/>
              </a:rPr>
              <a:t>AI</a:t>
            </a:r>
            <a:endParaRPr sz="4100">
              <a:latin typeface="Arial"/>
              <a:cs typeface="Arial"/>
            </a:endParaRPr>
          </a:p>
          <a:p>
            <a:pPr marL="12700" marR="5080" algn="ctr">
              <a:lnSpc>
                <a:spcPct val="140000"/>
              </a:lnSpc>
              <a:spcBef>
                <a:spcPts val="1515"/>
              </a:spcBef>
            </a:pPr>
            <a:r>
              <a:rPr sz="2700" b="1" spc="-10" dirty="0">
                <a:latin typeface="Arial"/>
                <a:cs typeface="Arial"/>
              </a:rPr>
              <a:t>GEMINI </a:t>
            </a:r>
            <a:r>
              <a:rPr sz="2700" b="1" spc="-25" dirty="0">
                <a:latin typeface="Arial"/>
                <a:cs typeface="Arial"/>
              </a:rPr>
              <a:t>API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1001057" y="4788819"/>
            <a:ext cx="1579245" cy="164465"/>
            <a:chOff x="11001057" y="4788819"/>
            <a:chExt cx="1579245" cy="164465"/>
          </a:xfrm>
        </p:grpSpPr>
        <p:sp>
          <p:nvSpPr>
            <p:cNvPr id="40" name="object 40"/>
            <p:cNvSpPr/>
            <p:nvPr/>
          </p:nvSpPr>
          <p:spPr>
            <a:xfrm>
              <a:off x="11001057" y="4870800"/>
              <a:ext cx="1387475" cy="0"/>
            </a:xfrm>
            <a:custGeom>
              <a:avLst/>
              <a:gdLst/>
              <a:ahLst/>
              <a:cxnLst/>
              <a:rect l="l" t="t" r="r" b="b"/>
              <a:pathLst>
                <a:path w="1387475">
                  <a:moveTo>
                    <a:pt x="0" y="0"/>
                  </a:moveTo>
                  <a:lnTo>
                    <a:pt x="1386943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368950" y="4788819"/>
              <a:ext cx="211001" cy="163961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4277835" y="8492434"/>
            <a:ext cx="235839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60" dirty="0">
                <a:latin typeface="Arial"/>
                <a:cs typeface="Arial"/>
              </a:rPr>
              <a:t>DATABASE</a:t>
            </a:r>
            <a:endParaRPr sz="3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85399" y="513071"/>
            <a:ext cx="122936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12665" algn="l"/>
                <a:tab pos="8013065" algn="l"/>
                <a:tab pos="9079865" algn="l"/>
              </a:tabLst>
            </a:pPr>
            <a:r>
              <a:rPr spc="1525" dirty="0">
                <a:solidFill>
                  <a:srgbClr val="7B33BA"/>
                </a:solidFill>
              </a:rPr>
              <a:t>BUSINESS</a:t>
            </a:r>
            <a:r>
              <a:rPr dirty="0">
                <a:solidFill>
                  <a:srgbClr val="7B33BA"/>
                </a:solidFill>
              </a:rPr>
              <a:t>	</a:t>
            </a:r>
            <a:r>
              <a:rPr spc="1210" dirty="0">
                <a:solidFill>
                  <a:srgbClr val="7B33BA"/>
                </a:solidFill>
              </a:rPr>
              <a:t>SCOPE</a:t>
            </a:r>
            <a:r>
              <a:rPr dirty="0">
                <a:solidFill>
                  <a:srgbClr val="7B33BA"/>
                </a:solidFill>
              </a:rPr>
              <a:t>	</a:t>
            </a:r>
            <a:r>
              <a:rPr spc="1350" dirty="0">
                <a:solidFill>
                  <a:srgbClr val="7B33BA"/>
                </a:solidFill>
              </a:rPr>
              <a:t>&amp;</a:t>
            </a:r>
            <a:r>
              <a:rPr dirty="0">
                <a:solidFill>
                  <a:srgbClr val="7B33BA"/>
                </a:solidFill>
              </a:rPr>
              <a:t>	</a:t>
            </a:r>
            <a:r>
              <a:rPr spc="1520" dirty="0">
                <a:solidFill>
                  <a:srgbClr val="7B33BA"/>
                </a:solidFill>
              </a:rPr>
              <a:t>IMPACT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65608" y="0"/>
            <a:ext cx="2022348" cy="18140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7800" y="9296400"/>
            <a:ext cx="4920106" cy="990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1800" y="9296400"/>
            <a:ext cx="4920105" cy="9905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43563" y="1438295"/>
            <a:ext cx="1438656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Arial"/>
                <a:cs typeface="Arial"/>
              </a:rPr>
              <a:t>Our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business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model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uses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freemium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approach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to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attract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wide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range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of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users,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demonstrating </a:t>
            </a:r>
            <a:r>
              <a:rPr sz="2700" dirty="0">
                <a:latin typeface="Arial"/>
                <a:cs typeface="Arial"/>
              </a:rPr>
              <a:t>the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core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value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of</a:t>
            </a:r>
            <a:r>
              <a:rPr sz="2700" spc="-17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AI-</a:t>
            </a:r>
            <a:r>
              <a:rPr sz="2700" dirty="0">
                <a:latin typeface="Arial"/>
                <a:cs typeface="Arial"/>
              </a:rPr>
              <a:t>powered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context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summarization.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Revenue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is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generated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by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offering </a:t>
            </a:r>
            <a:r>
              <a:rPr sz="2700" dirty="0">
                <a:latin typeface="Arial"/>
                <a:cs typeface="Arial"/>
              </a:rPr>
              <a:t>progressively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powerful</a:t>
            </a:r>
            <a:r>
              <a:rPr sz="2700" spc="-16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AI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features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and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collaboration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tools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suitable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for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the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needs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of</a:t>
            </a:r>
            <a:r>
              <a:rPr sz="2700" spc="-10" dirty="0">
                <a:latin typeface="Arial"/>
                <a:cs typeface="Arial"/>
              </a:rPr>
              <a:t> individuals </a:t>
            </a:r>
            <a:r>
              <a:rPr sz="2700" dirty="0">
                <a:latin typeface="Arial"/>
                <a:cs typeface="Arial"/>
              </a:rPr>
              <a:t>and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organizations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as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they</a:t>
            </a:r>
            <a:r>
              <a:rPr sz="2700" spc="-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grow.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2545" y="3259111"/>
            <a:ext cx="14046200" cy="3908425"/>
            <a:chOff x="1472545" y="3259111"/>
            <a:chExt cx="14046200" cy="3908425"/>
          </a:xfrm>
        </p:grpSpPr>
        <p:sp>
          <p:nvSpPr>
            <p:cNvPr id="8" name="object 8"/>
            <p:cNvSpPr/>
            <p:nvPr/>
          </p:nvSpPr>
          <p:spPr>
            <a:xfrm>
              <a:off x="1485245" y="3271811"/>
              <a:ext cx="14020800" cy="3883025"/>
            </a:xfrm>
            <a:custGeom>
              <a:avLst/>
              <a:gdLst/>
              <a:ahLst/>
              <a:cxnLst/>
              <a:rect l="l" t="t" r="r" b="b"/>
              <a:pathLst>
                <a:path w="14020800" h="3883025">
                  <a:moveTo>
                    <a:pt x="13373656" y="3882784"/>
                  </a:moveTo>
                  <a:lnTo>
                    <a:pt x="647143" y="3882784"/>
                  </a:lnTo>
                  <a:lnTo>
                    <a:pt x="598846" y="3881009"/>
                  </a:lnTo>
                  <a:lnTo>
                    <a:pt x="551513" y="3875768"/>
                  </a:lnTo>
                  <a:lnTo>
                    <a:pt x="505269" y="3867185"/>
                  </a:lnTo>
                  <a:lnTo>
                    <a:pt x="460240" y="3855385"/>
                  </a:lnTo>
                  <a:lnTo>
                    <a:pt x="416549" y="3840494"/>
                  </a:lnTo>
                  <a:lnTo>
                    <a:pt x="374324" y="3822637"/>
                  </a:lnTo>
                  <a:lnTo>
                    <a:pt x="333688" y="3801939"/>
                  </a:lnTo>
                  <a:lnTo>
                    <a:pt x="294767" y="3778526"/>
                  </a:lnTo>
                  <a:lnTo>
                    <a:pt x="257685" y="3752521"/>
                  </a:lnTo>
                  <a:lnTo>
                    <a:pt x="222569" y="3724051"/>
                  </a:lnTo>
                  <a:lnTo>
                    <a:pt x="189543" y="3693241"/>
                  </a:lnTo>
                  <a:lnTo>
                    <a:pt x="158733" y="3660215"/>
                  </a:lnTo>
                  <a:lnTo>
                    <a:pt x="130263" y="3625099"/>
                  </a:lnTo>
                  <a:lnTo>
                    <a:pt x="104258" y="3588017"/>
                  </a:lnTo>
                  <a:lnTo>
                    <a:pt x="80845" y="3549096"/>
                  </a:lnTo>
                  <a:lnTo>
                    <a:pt x="60147" y="3508460"/>
                  </a:lnTo>
                  <a:lnTo>
                    <a:pt x="42290" y="3466235"/>
                  </a:lnTo>
                  <a:lnTo>
                    <a:pt x="27399" y="3422545"/>
                  </a:lnTo>
                  <a:lnTo>
                    <a:pt x="15599" y="3377515"/>
                  </a:lnTo>
                  <a:lnTo>
                    <a:pt x="7016" y="3331271"/>
                  </a:lnTo>
                  <a:lnTo>
                    <a:pt x="1775" y="3283938"/>
                  </a:lnTo>
                  <a:lnTo>
                    <a:pt x="0" y="3235641"/>
                  </a:lnTo>
                  <a:lnTo>
                    <a:pt x="0" y="647143"/>
                  </a:lnTo>
                  <a:lnTo>
                    <a:pt x="1775" y="598846"/>
                  </a:lnTo>
                  <a:lnTo>
                    <a:pt x="7016" y="551513"/>
                  </a:lnTo>
                  <a:lnTo>
                    <a:pt x="15599" y="505269"/>
                  </a:lnTo>
                  <a:lnTo>
                    <a:pt x="27399" y="460240"/>
                  </a:lnTo>
                  <a:lnTo>
                    <a:pt x="42290" y="416549"/>
                  </a:lnTo>
                  <a:lnTo>
                    <a:pt x="60147" y="374324"/>
                  </a:lnTo>
                  <a:lnTo>
                    <a:pt x="80845" y="333688"/>
                  </a:lnTo>
                  <a:lnTo>
                    <a:pt x="104258" y="294767"/>
                  </a:lnTo>
                  <a:lnTo>
                    <a:pt x="130263" y="257686"/>
                  </a:lnTo>
                  <a:lnTo>
                    <a:pt x="158733" y="222569"/>
                  </a:lnTo>
                  <a:lnTo>
                    <a:pt x="189543" y="189544"/>
                  </a:lnTo>
                  <a:lnTo>
                    <a:pt x="222569" y="158733"/>
                  </a:lnTo>
                  <a:lnTo>
                    <a:pt x="257685" y="130263"/>
                  </a:lnTo>
                  <a:lnTo>
                    <a:pt x="294767" y="104258"/>
                  </a:lnTo>
                  <a:lnTo>
                    <a:pt x="333688" y="80845"/>
                  </a:lnTo>
                  <a:lnTo>
                    <a:pt x="374324" y="60147"/>
                  </a:lnTo>
                  <a:lnTo>
                    <a:pt x="416549" y="42290"/>
                  </a:lnTo>
                  <a:lnTo>
                    <a:pt x="460240" y="27399"/>
                  </a:lnTo>
                  <a:lnTo>
                    <a:pt x="505269" y="15599"/>
                  </a:lnTo>
                  <a:lnTo>
                    <a:pt x="551513" y="7016"/>
                  </a:lnTo>
                  <a:lnTo>
                    <a:pt x="598846" y="1775"/>
                  </a:lnTo>
                  <a:lnTo>
                    <a:pt x="647143" y="0"/>
                  </a:lnTo>
                  <a:lnTo>
                    <a:pt x="13373656" y="0"/>
                  </a:lnTo>
                  <a:lnTo>
                    <a:pt x="13424899" y="2030"/>
                  </a:lnTo>
                  <a:lnTo>
                    <a:pt x="13475503" y="8061"/>
                  </a:lnTo>
                  <a:lnTo>
                    <a:pt x="13525250" y="18003"/>
                  </a:lnTo>
                  <a:lnTo>
                    <a:pt x="13573924" y="31767"/>
                  </a:lnTo>
                  <a:lnTo>
                    <a:pt x="13621307" y="49260"/>
                  </a:lnTo>
                  <a:lnTo>
                    <a:pt x="13667182" y="70395"/>
                  </a:lnTo>
                  <a:lnTo>
                    <a:pt x="13711332" y="95081"/>
                  </a:lnTo>
                  <a:lnTo>
                    <a:pt x="13753539" y="123228"/>
                  </a:lnTo>
                  <a:lnTo>
                    <a:pt x="13793586" y="154745"/>
                  </a:lnTo>
                  <a:lnTo>
                    <a:pt x="13831256" y="189543"/>
                  </a:lnTo>
                  <a:lnTo>
                    <a:pt x="13866054" y="227213"/>
                  </a:lnTo>
                  <a:lnTo>
                    <a:pt x="13897572" y="267260"/>
                  </a:lnTo>
                  <a:lnTo>
                    <a:pt x="13925718" y="309467"/>
                  </a:lnTo>
                  <a:lnTo>
                    <a:pt x="13950404" y="353617"/>
                  </a:lnTo>
                  <a:lnTo>
                    <a:pt x="13971539" y="399492"/>
                  </a:lnTo>
                  <a:lnTo>
                    <a:pt x="13989033" y="446875"/>
                  </a:lnTo>
                  <a:lnTo>
                    <a:pt x="14002796" y="495549"/>
                  </a:lnTo>
                  <a:lnTo>
                    <a:pt x="14012738" y="545297"/>
                  </a:lnTo>
                  <a:lnTo>
                    <a:pt x="14018769" y="595900"/>
                  </a:lnTo>
                  <a:lnTo>
                    <a:pt x="14020799" y="647143"/>
                  </a:lnTo>
                  <a:lnTo>
                    <a:pt x="14020799" y="3235641"/>
                  </a:lnTo>
                  <a:lnTo>
                    <a:pt x="14019024" y="3283938"/>
                  </a:lnTo>
                  <a:lnTo>
                    <a:pt x="14013783" y="3331271"/>
                  </a:lnTo>
                  <a:lnTo>
                    <a:pt x="14005200" y="3377515"/>
                  </a:lnTo>
                  <a:lnTo>
                    <a:pt x="13993400" y="3422545"/>
                  </a:lnTo>
                  <a:lnTo>
                    <a:pt x="13978509" y="3466235"/>
                  </a:lnTo>
                  <a:lnTo>
                    <a:pt x="13960652" y="3508460"/>
                  </a:lnTo>
                  <a:lnTo>
                    <a:pt x="13939955" y="3549096"/>
                  </a:lnTo>
                  <a:lnTo>
                    <a:pt x="13916541" y="3588017"/>
                  </a:lnTo>
                  <a:lnTo>
                    <a:pt x="13890536" y="3625099"/>
                  </a:lnTo>
                  <a:lnTo>
                    <a:pt x="13862066" y="3660215"/>
                  </a:lnTo>
                  <a:lnTo>
                    <a:pt x="13831256" y="3693241"/>
                  </a:lnTo>
                  <a:lnTo>
                    <a:pt x="13798230" y="3724051"/>
                  </a:lnTo>
                  <a:lnTo>
                    <a:pt x="13763114" y="3752521"/>
                  </a:lnTo>
                  <a:lnTo>
                    <a:pt x="13726033" y="3778526"/>
                  </a:lnTo>
                  <a:lnTo>
                    <a:pt x="13687112" y="3801939"/>
                  </a:lnTo>
                  <a:lnTo>
                    <a:pt x="13646476" y="3822637"/>
                  </a:lnTo>
                  <a:lnTo>
                    <a:pt x="13604250" y="3840494"/>
                  </a:lnTo>
                  <a:lnTo>
                    <a:pt x="13560560" y="3855385"/>
                  </a:lnTo>
                  <a:lnTo>
                    <a:pt x="13515530" y="3867185"/>
                  </a:lnTo>
                  <a:lnTo>
                    <a:pt x="13469286" y="3875768"/>
                  </a:lnTo>
                  <a:lnTo>
                    <a:pt x="13421953" y="3881009"/>
                  </a:lnTo>
                  <a:lnTo>
                    <a:pt x="13373656" y="3882784"/>
                  </a:lnTo>
                  <a:close/>
                </a:path>
              </a:pathLst>
            </a:custGeom>
            <a:solidFill>
              <a:srgbClr val="EBB1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85245" y="3271811"/>
              <a:ext cx="14020800" cy="3883025"/>
            </a:xfrm>
            <a:custGeom>
              <a:avLst/>
              <a:gdLst/>
              <a:ahLst/>
              <a:cxnLst/>
              <a:rect l="l" t="t" r="r" b="b"/>
              <a:pathLst>
                <a:path w="14020800" h="3883025">
                  <a:moveTo>
                    <a:pt x="0" y="647143"/>
                  </a:moveTo>
                  <a:lnTo>
                    <a:pt x="1775" y="598846"/>
                  </a:lnTo>
                  <a:lnTo>
                    <a:pt x="7016" y="551513"/>
                  </a:lnTo>
                  <a:lnTo>
                    <a:pt x="15599" y="505269"/>
                  </a:lnTo>
                  <a:lnTo>
                    <a:pt x="27399" y="460240"/>
                  </a:lnTo>
                  <a:lnTo>
                    <a:pt x="42290" y="416549"/>
                  </a:lnTo>
                  <a:lnTo>
                    <a:pt x="60147" y="374324"/>
                  </a:lnTo>
                  <a:lnTo>
                    <a:pt x="80845" y="333688"/>
                  </a:lnTo>
                  <a:lnTo>
                    <a:pt x="104258" y="294767"/>
                  </a:lnTo>
                  <a:lnTo>
                    <a:pt x="130263" y="257686"/>
                  </a:lnTo>
                  <a:lnTo>
                    <a:pt x="158733" y="222569"/>
                  </a:lnTo>
                  <a:lnTo>
                    <a:pt x="189543" y="189544"/>
                  </a:lnTo>
                  <a:lnTo>
                    <a:pt x="222569" y="158733"/>
                  </a:lnTo>
                  <a:lnTo>
                    <a:pt x="257685" y="130263"/>
                  </a:lnTo>
                  <a:lnTo>
                    <a:pt x="294767" y="104258"/>
                  </a:lnTo>
                  <a:lnTo>
                    <a:pt x="333688" y="80845"/>
                  </a:lnTo>
                  <a:lnTo>
                    <a:pt x="374324" y="60147"/>
                  </a:lnTo>
                  <a:lnTo>
                    <a:pt x="416549" y="42290"/>
                  </a:lnTo>
                  <a:lnTo>
                    <a:pt x="460240" y="27399"/>
                  </a:lnTo>
                  <a:lnTo>
                    <a:pt x="505269" y="15599"/>
                  </a:lnTo>
                  <a:lnTo>
                    <a:pt x="551513" y="7016"/>
                  </a:lnTo>
                  <a:lnTo>
                    <a:pt x="598846" y="1775"/>
                  </a:lnTo>
                  <a:lnTo>
                    <a:pt x="647143" y="0"/>
                  </a:lnTo>
                  <a:lnTo>
                    <a:pt x="13373656" y="0"/>
                  </a:lnTo>
                  <a:lnTo>
                    <a:pt x="13424899" y="2030"/>
                  </a:lnTo>
                  <a:lnTo>
                    <a:pt x="13475503" y="8061"/>
                  </a:lnTo>
                  <a:lnTo>
                    <a:pt x="13525250" y="18003"/>
                  </a:lnTo>
                  <a:lnTo>
                    <a:pt x="13573924" y="31767"/>
                  </a:lnTo>
                  <a:lnTo>
                    <a:pt x="13621307" y="49260"/>
                  </a:lnTo>
                  <a:lnTo>
                    <a:pt x="13667182" y="70395"/>
                  </a:lnTo>
                  <a:lnTo>
                    <a:pt x="13711332" y="95081"/>
                  </a:lnTo>
                  <a:lnTo>
                    <a:pt x="13753539" y="123228"/>
                  </a:lnTo>
                  <a:lnTo>
                    <a:pt x="13793586" y="154745"/>
                  </a:lnTo>
                  <a:lnTo>
                    <a:pt x="13831256" y="189543"/>
                  </a:lnTo>
                  <a:lnTo>
                    <a:pt x="13866054" y="227213"/>
                  </a:lnTo>
                  <a:lnTo>
                    <a:pt x="13897572" y="267260"/>
                  </a:lnTo>
                  <a:lnTo>
                    <a:pt x="13925718" y="309467"/>
                  </a:lnTo>
                  <a:lnTo>
                    <a:pt x="13950404" y="353617"/>
                  </a:lnTo>
                  <a:lnTo>
                    <a:pt x="13971539" y="399492"/>
                  </a:lnTo>
                  <a:lnTo>
                    <a:pt x="13989033" y="446875"/>
                  </a:lnTo>
                  <a:lnTo>
                    <a:pt x="14002796" y="495549"/>
                  </a:lnTo>
                  <a:lnTo>
                    <a:pt x="14012738" y="545297"/>
                  </a:lnTo>
                  <a:lnTo>
                    <a:pt x="14018769" y="595900"/>
                  </a:lnTo>
                  <a:lnTo>
                    <a:pt x="14020799" y="647143"/>
                  </a:lnTo>
                  <a:lnTo>
                    <a:pt x="14020799" y="3235641"/>
                  </a:lnTo>
                  <a:lnTo>
                    <a:pt x="14019024" y="3283938"/>
                  </a:lnTo>
                  <a:lnTo>
                    <a:pt x="14013783" y="3331271"/>
                  </a:lnTo>
                  <a:lnTo>
                    <a:pt x="14005200" y="3377515"/>
                  </a:lnTo>
                  <a:lnTo>
                    <a:pt x="13993400" y="3422545"/>
                  </a:lnTo>
                  <a:lnTo>
                    <a:pt x="13978509" y="3466235"/>
                  </a:lnTo>
                  <a:lnTo>
                    <a:pt x="13960652" y="3508460"/>
                  </a:lnTo>
                  <a:lnTo>
                    <a:pt x="13939955" y="3549096"/>
                  </a:lnTo>
                  <a:lnTo>
                    <a:pt x="13916541" y="3588017"/>
                  </a:lnTo>
                  <a:lnTo>
                    <a:pt x="13890536" y="3625099"/>
                  </a:lnTo>
                  <a:lnTo>
                    <a:pt x="13862066" y="3660215"/>
                  </a:lnTo>
                  <a:lnTo>
                    <a:pt x="13831256" y="3693241"/>
                  </a:lnTo>
                  <a:lnTo>
                    <a:pt x="13798230" y="3724051"/>
                  </a:lnTo>
                  <a:lnTo>
                    <a:pt x="13763114" y="3752521"/>
                  </a:lnTo>
                  <a:lnTo>
                    <a:pt x="13726033" y="3778526"/>
                  </a:lnTo>
                  <a:lnTo>
                    <a:pt x="13687112" y="3801939"/>
                  </a:lnTo>
                  <a:lnTo>
                    <a:pt x="13646476" y="3822637"/>
                  </a:lnTo>
                  <a:lnTo>
                    <a:pt x="13604250" y="3840494"/>
                  </a:lnTo>
                  <a:lnTo>
                    <a:pt x="13560560" y="3855385"/>
                  </a:lnTo>
                  <a:lnTo>
                    <a:pt x="13515530" y="3867185"/>
                  </a:lnTo>
                  <a:lnTo>
                    <a:pt x="13469286" y="3875768"/>
                  </a:lnTo>
                  <a:lnTo>
                    <a:pt x="13421953" y="3881009"/>
                  </a:lnTo>
                  <a:lnTo>
                    <a:pt x="13373656" y="3882784"/>
                  </a:lnTo>
                  <a:lnTo>
                    <a:pt x="647143" y="3882784"/>
                  </a:lnTo>
                  <a:lnTo>
                    <a:pt x="598846" y="3881009"/>
                  </a:lnTo>
                  <a:lnTo>
                    <a:pt x="551513" y="3875768"/>
                  </a:lnTo>
                  <a:lnTo>
                    <a:pt x="505269" y="3867185"/>
                  </a:lnTo>
                  <a:lnTo>
                    <a:pt x="460240" y="3855385"/>
                  </a:lnTo>
                  <a:lnTo>
                    <a:pt x="416549" y="3840494"/>
                  </a:lnTo>
                  <a:lnTo>
                    <a:pt x="374324" y="3822637"/>
                  </a:lnTo>
                  <a:lnTo>
                    <a:pt x="333688" y="3801939"/>
                  </a:lnTo>
                  <a:lnTo>
                    <a:pt x="294767" y="3778526"/>
                  </a:lnTo>
                  <a:lnTo>
                    <a:pt x="257685" y="3752521"/>
                  </a:lnTo>
                  <a:lnTo>
                    <a:pt x="222569" y="3724051"/>
                  </a:lnTo>
                  <a:lnTo>
                    <a:pt x="189543" y="3693241"/>
                  </a:lnTo>
                  <a:lnTo>
                    <a:pt x="158733" y="3660215"/>
                  </a:lnTo>
                  <a:lnTo>
                    <a:pt x="130263" y="3625099"/>
                  </a:lnTo>
                  <a:lnTo>
                    <a:pt x="104258" y="3588017"/>
                  </a:lnTo>
                  <a:lnTo>
                    <a:pt x="80845" y="3549096"/>
                  </a:lnTo>
                  <a:lnTo>
                    <a:pt x="60147" y="3508460"/>
                  </a:lnTo>
                  <a:lnTo>
                    <a:pt x="42290" y="3466235"/>
                  </a:lnTo>
                  <a:lnTo>
                    <a:pt x="27399" y="3422545"/>
                  </a:lnTo>
                  <a:lnTo>
                    <a:pt x="15599" y="3377515"/>
                  </a:lnTo>
                  <a:lnTo>
                    <a:pt x="7016" y="3331271"/>
                  </a:lnTo>
                  <a:lnTo>
                    <a:pt x="1775" y="3283938"/>
                  </a:lnTo>
                  <a:lnTo>
                    <a:pt x="0" y="3235641"/>
                  </a:lnTo>
                  <a:lnTo>
                    <a:pt x="0" y="647143"/>
                  </a:lnTo>
                  <a:close/>
                </a:path>
              </a:pathLst>
            </a:custGeom>
            <a:ln w="25399">
              <a:solidFill>
                <a:srgbClr val="2136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95800" y="3417168"/>
              <a:ext cx="0" cy="3515995"/>
            </a:xfrm>
            <a:custGeom>
              <a:avLst/>
              <a:gdLst/>
              <a:ahLst/>
              <a:cxnLst/>
              <a:rect l="l" t="t" r="r" b="b"/>
              <a:pathLst>
                <a:path h="3515995">
                  <a:moveTo>
                    <a:pt x="0" y="0"/>
                  </a:moveTo>
                  <a:lnTo>
                    <a:pt x="0" y="351585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033674" y="3626194"/>
            <a:ext cx="2082800" cy="927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531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Arial"/>
                <a:cs typeface="Arial"/>
              </a:rPr>
              <a:t>Free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700" dirty="0">
                <a:latin typeface="Arial"/>
                <a:cs typeface="Arial"/>
              </a:rPr>
              <a:t>(small</a:t>
            </a:r>
            <a:r>
              <a:rPr sz="2700" spc="-11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teams)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86022" y="4739969"/>
            <a:ext cx="2044064" cy="9124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7305" algn="ctr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latin typeface="Arial"/>
                <a:cs typeface="Arial"/>
              </a:rPr>
              <a:t>Pro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600" dirty="0">
                <a:latin typeface="Arial"/>
                <a:cs typeface="Arial"/>
              </a:rPr>
              <a:t>(work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groups)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86025" y="5953751"/>
            <a:ext cx="228282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"/>
                <a:cs typeface="Arial"/>
              </a:rPr>
              <a:t>Enterprise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600" spc="-10" dirty="0">
                <a:latin typeface="Arial"/>
                <a:cs typeface="Arial"/>
              </a:rPr>
              <a:t>(Organizations)</a:t>
            </a:r>
            <a:endParaRPr sz="2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05000" y="4610100"/>
            <a:ext cx="13182600" cy="1219200"/>
          </a:xfrm>
          <a:custGeom>
            <a:avLst/>
            <a:gdLst/>
            <a:ahLst/>
            <a:cxnLst/>
            <a:rect l="l" t="t" r="r" b="b"/>
            <a:pathLst>
              <a:path w="13182600" h="1219200">
                <a:moveTo>
                  <a:pt x="0" y="0"/>
                </a:moveTo>
                <a:lnTo>
                  <a:pt x="2362199" y="0"/>
                </a:lnTo>
              </a:path>
              <a:path w="13182600" h="1219200">
                <a:moveTo>
                  <a:pt x="3015106" y="0"/>
                </a:moveTo>
                <a:lnTo>
                  <a:pt x="13182599" y="0"/>
                </a:lnTo>
              </a:path>
              <a:path w="13182600" h="1219200">
                <a:moveTo>
                  <a:pt x="0" y="1219199"/>
                </a:moveTo>
                <a:lnTo>
                  <a:pt x="2362199" y="1219199"/>
                </a:lnTo>
              </a:path>
              <a:path w="13182600" h="1219200">
                <a:moveTo>
                  <a:pt x="3015106" y="1219199"/>
                </a:moveTo>
                <a:lnTo>
                  <a:pt x="13182599" y="12191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993132" y="3683677"/>
            <a:ext cx="96189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Arial"/>
                <a:cs typeface="Arial"/>
              </a:rPr>
              <a:t>Basic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chat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feature,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on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demand</a:t>
            </a:r>
            <a:r>
              <a:rPr sz="2500" spc="-16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AI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summarizations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with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limited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usage </a:t>
            </a:r>
            <a:r>
              <a:rPr sz="2500" dirty="0">
                <a:latin typeface="Arial"/>
                <a:cs typeface="Arial"/>
              </a:rPr>
              <a:t>and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limited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task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extraction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7963" y="4804411"/>
            <a:ext cx="849312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Arial"/>
                <a:cs typeface="Arial"/>
              </a:rPr>
              <a:t>Expanded</a:t>
            </a:r>
            <a:r>
              <a:rPr sz="2500" spc="-15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AI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usage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with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longer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history</a:t>
            </a:r>
            <a:r>
              <a:rPr sz="2500" spc="-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summaries</a:t>
            </a:r>
            <a:r>
              <a:rPr sz="2500" spc="-1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and</a:t>
            </a:r>
            <a:r>
              <a:rPr sz="2500" spc="-20" dirty="0">
                <a:latin typeface="Arial"/>
                <a:cs typeface="Arial"/>
              </a:rPr>
              <a:t> more </a:t>
            </a:r>
            <a:r>
              <a:rPr sz="2500" dirty="0">
                <a:latin typeface="Arial"/>
                <a:cs typeface="Arial"/>
              </a:rPr>
              <a:t>frequent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access,</a:t>
            </a:r>
            <a:r>
              <a:rPr sz="2500" spc="-5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potentially</a:t>
            </a:r>
            <a:r>
              <a:rPr sz="2500" spc="-5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with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advanced</a:t>
            </a:r>
            <a:r>
              <a:rPr sz="2500" spc="-5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prompt</a:t>
            </a:r>
            <a:r>
              <a:rPr sz="2500" spc="-5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options.</a:t>
            </a:r>
            <a:endParaRPr sz="2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3131" y="6048593"/>
            <a:ext cx="100126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latin typeface="Arial"/>
                <a:cs typeface="Arial"/>
              </a:rPr>
              <a:t>Unlimited</a:t>
            </a:r>
            <a:r>
              <a:rPr sz="2500" spc="-1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AI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features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with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large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room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support</a:t>
            </a:r>
            <a:r>
              <a:rPr sz="2500" spc="-2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and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custom</a:t>
            </a:r>
            <a:r>
              <a:rPr sz="2500" spc="-1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AI</a:t>
            </a:r>
            <a:r>
              <a:rPr sz="2500" spc="-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models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spc="-25" dirty="0">
                <a:latin typeface="Arial"/>
                <a:cs typeface="Arial"/>
              </a:rPr>
              <a:t>on </a:t>
            </a:r>
            <a:r>
              <a:rPr sz="2500" dirty="0">
                <a:latin typeface="Arial"/>
                <a:cs typeface="Arial"/>
              </a:rPr>
              <a:t>organizational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conversation</a:t>
            </a:r>
            <a:r>
              <a:rPr sz="2500" spc="-6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patterns,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advanced</a:t>
            </a:r>
            <a:r>
              <a:rPr sz="2500" spc="-6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admin</a:t>
            </a:r>
            <a:r>
              <a:rPr sz="2500" spc="-7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controls</a:t>
            </a:r>
            <a:endParaRPr sz="2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58278" y="7452772"/>
            <a:ext cx="13831569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8765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Arial"/>
                <a:cs typeface="Arial"/>
              </a:rPr>
              <a:t>The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core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impact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is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to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reclaim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the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significant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user’s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time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currently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wasted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scrolling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through </a:t>
            </a:r>
            <a:r>
              <a:rPr sz="2700" dirty="0">
                <a:latin typeface="Arial"/>
                <a:cs typeface="Arial"/>
              </a:rPr>
              <a:t>messages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or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asking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their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colleagues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for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information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by</a:t>
            </a:r>
            <a:r>
              <a:rPr sz="2700" spc="-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providing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instant</a:t>
            </a:r>
            <a:r>
              <a:rPr sz="2700" spc="-17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AI</a:t>
            </a:r>
            <a:r>
              <a:rPr sz="2700" spc="-1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generated </a:t>
            </a:r>
            <a:r>
              <a:rPr sz="2700" dirty="0">
                <a:latin typeface="Arial"/>
                <a:cs typeface="Arial"/>
              </a:rPr>
              <a:t>context(like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summaries,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extracted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tasks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etc)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allowing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the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users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to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stay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informed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spc="-20" dirty="0">
                <a:latin typeface="Arial"/>
                <a:cs typeface="Arial"/>
              </a:rPr>
              <a:t>thus </a:t>
            </a:r>
            <a:r>
              <a:rPr sz="2700" dirty="0">
                <a:latin typeface="Arial"/>
                <a:cs typeface="Arial"/>
              </a:rPr>
              <a:t>increasing</a:t>
            </a:r>
            <a:r>
              <a:rPr sz="2700" spc="-3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the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efficiency.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79465" algn="l"/>
                <a:tab pos="6946265" algn="l"/>
                <a:tab pos="10680065" algn="l"/>
              </a:tabLst>
            </a:pPr>
            <a:r>
              <a:rPr spc="2070" dirty="0"/>
              <a:t>Challenges</a:t>
            </a:r>
            <a:r>
              <a:rPr dirty="0"/>
              <a:t>	</a:t>
            </a:r>
            <a:r>
              <a:rPr spc="1350" dirty="0"/>
              <a:t>&amp;</a:t>
            </a:r>
            <a:r>
              <a:rPr dirty="0"/>
              <a:t>	</a:t>
            </a:r>
            <a:r>
              <a:rPr spc="2150" dirty="0"/>
              <a:t>Future</a:t>
            </a:r>
            <a:r>
              <a:rPr dirty="0"/>
              <a:t>	</a:t>
            </a:r>
            <a:r>
              <a:rPr spc="1800" dirty="0"/>
              <a:t>Scope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600" cy="10286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226937" y="0"/>
            <a:ext cx="16061690" cy="10292080"/>
            <a:chOff x="2226937" y="0"/>
            <a:chExt cx="16061690" cy="102920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65607" y="0"/>
              <a:ext cx="2022391" cy="181407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31700" y="1509749"/>
              <a:ext cx="14758669" cy="8777605"/>
            </a:xfrm>
            <a:custGeom>
              <a:avLst/>
              <a:gdLst/>
              <a:ahLst/>
              <a:cxnLst/>
              <a:rect l="l" t="t" r="r" b="b"/>
              <a:pathLst>
                <a:path w="14758669" h="8777605">
                  <a:moveTo>
                    <a:pt x="0" y="8777249"/>
                  </a:moveTo>
                  <a:lnTo>
                    <a:pt x="0" y="0"/>
                  </a:lnTo>
                  <a:lnTo>
                    <a:pt x="14758199" y="0"/>
                  </a:lnTo>
                  <a:lnTo>
                    <a:pt x="14758199" y="8777249"/>
                  </a:lnTo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04725" y="1314739"/>
            <a:ext cx="14390369" cy="8523605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720"/>
              </a:spcBef>
            </a:pPr>
            <a:r>
              <a:rPr sz="2900" b="1" spc="-10" dirty="0">
                <a:solidFill>
                  <a:srgbClr val="8725B4"/>
                </a:solidFill>
                <a:latin typeface="Arial"/>
                <a:cs typeface="Arial"/>
              </a:rPr>
              <a:t>CHALLENGES</a:t>
            </a:r>
            <a:endParaRPr sz="2900">
              <a:latin typeface="Arial"/>
              <a:cs typeface="Arial"/>
            </a:endParaRPr>
          </a:p>
          <a:p>
            <a:pPr marL="469900" marR="505459" indent="-397510">
              <a:lnSpc>
                <a:spcPct val="134500"/>
              </a:lnSpc>
              <a:spcBef>
                <a:spcPts val="315"/>
              </a:spcBef>
              <a:buChar char="●"/>
              <a:tabLst>
                <a:tab pos="469900" algn="l"/>
                <a:tab pos="3201670" algn="l"/>
              </a:tabLst>
            </a:pP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The</a:t>
            </a:r>
            <a:r>
              <a:rPr sz="2200" spc="-8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main</a:t>
            </a:r>
            <a:r>
              <a:rPr sz="2200" spc="-5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challenges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for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this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integration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are</a:t>
            </a:r>
            <a:r>
              <a:rPr sz="2200" spc="-5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using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frequent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LLM</a:t>
            </a:r>
            <a:r>
              <a:rPr sz="2200" spc="-14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API</a:t>
            </a:r>
            <a:r>
              <a:rPr sz="2200" spc="-5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calls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for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summaries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which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becomes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expensive</a:t>
            </a:r>
            <a:r>
              <a:rPr sz="2200" spc="-8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at</a:t>
            </a:r>
            <a:r>
              <a:rPr sz="2200" spc="-8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scale.</a:t>
            </a:r>
            <a:r>
              <a:rPr sz="2200" spc="-8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Ensuring</a:t>
            </a:r>
            <a:r>
              <a:rPr sz="2200" spc="-8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consistently</a:t>
            </a:r>
            <a:r>
              <a:rPr sz="2200" spc="-8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fast</a:t>
            </a:r>
            <a:r>
              <a:rPr sz="2200" spc="-8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summary</a:t>
            </a:r>
            <a:r>
              <a:rPr sz="2200" spc="-8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generation,</a:t>
            </a:r>
            <a:r>
              <a:rPr sz="2200" spc="-8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especially</a:t>
            </a:r>
            <a:r>
              <a:rPr sz="2200" spc="-8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with</a:t>
            </a:r>
            <a:r>
              <a:rPr sz="2200" spc="-8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large</a:t>
            </a:r>
            <a:r>
              <a:rPr sz="2200" spc="-8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chat</a:t>
            </a:r>
            <a:r>
              <a:rPr sz="2200" spc="-8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histories</a:t>
            </a:r>
            <a:r>
              <a:rPr sz="2200" spc="-8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which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requires</a:t>
            </a:r>
            <a:r>
              <a:rPr sz="2200" spc="-8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optimization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	and</a:t>
            </a:r>
            <a:r>
              <a:rPr sz="2200" spc="-9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potentially</a:t>
            </a:r>
            <a:r>
              <a:rPr sz="2200" spc="-5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exploring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140C16"/>
                </a:solidFill>
                <a:latin typeface="Arial"/>
                <a:cs typeface="Arial"/>
              </a:rPr>
              <a:t>dedicated</a:t>
            </a:r>
            <a:r>
              <a:rPr sz="2200" spc="-13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AI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models.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5"/>
              </a:spcBef>
              <a:buClr>
                <a:srgbClr val="140C16"/>
              </a:buClr>
              <a:buFont typeface="Arial"/>
              <a:buChar char="●"/>
            </a:pPr>
            <a:endParaRPr sz="2200">
              <a:latin typeface="Arial"/>
              <a:cs typeface="Arial"/>
            </a:endParaRPr>
          </a:p>
          <a:p>
            <a:pPr marL="523875">
              <a:lnSpc>
                <a:spcPct val="100000"/>
              </a:lnSpc>
            </a:pPr>
            <a:r>
              <a:rPr sz="2900" b="1" dirty="0">
                <a:solidFill>
                  <a:srgbClr val="8725B4"/>
                </a:solidFill>
                <a:latin typeface="Arial"/>
                <a:cs typeface="Arial"/>
              </a:rPr>
              <a:t>FUTURE</a:t>
            </a:r>
            <a:r>
              <a:rPr sz="2900" b="1" spc="-155" dirty="0">
                <a:solidFill>
                  <a:srgbClr val="8725B4"/>
                </a:solidFill>
                <a:latin typeface="Arial"/>
                <a:cs typeface="Arial"/>
              </a:rPr>
              <a:t> </a:t>
            </a:r>
            <a:r>
              <a:rPr sz="2900" b="1" spc="-10" dirty="0">
                <a:solidFill>
                  <a:srgbClr val="8725B4"/>
                </a:solidFill>
                <a:latin typeface="Arial"/>
                <a:cs typeface="Arial"/>
              </a:rPr>
              <a:t>SCOPE</a:t>
            </a:r>
            <a:endParaRPr sz="2900">
              <a:latin typeface="Arial"/>
              <a:cs typeface="Arial"/>
            </a:endParaRPr>
          </a:p>
          <a:p>
            <a:pPr marL="469900" marR="5080" indent="-397510">
              <a:lnSpc>
                <a:spcPct val="134500"/>
              </a:lnSpc>
              <a:spcBef>
                <a:spcPts val="315"/>
              </a:spcBef>
              <a:buFont typeface="Arial"/>
              <a:buChar char="●"/>
              <a:tabLst>
                <a:tab pos="469900" algn="l"/>
              </a:tabLst>
            </a:pPr>
            <a:r>
              <a:rPr sz="2200" b="1" dirty="0">
                <a:solidFill>
                  <a:srgbClr val="140C16"/>
                </a:solidFill>
                <a:latin typeface="Arial"/>
                <a:cs typeface="Arial"/>
              </a:rPr>
              <a:t>AI</a:t>
            </a:r>
            <a:r>
              <a:rPr sz="2200" b="1" spc="-8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140C16"/>
                </a:solidFill>
                <a:latin typeface="Arial"/>
                <a:cs typeface="Arial"/>
              </a:rPr>
              <a:t>Enhancement:</a:t>
            </a:r>
            <a:r>
              <a:rPr sz="2200" b="1" spc="-7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Training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custom</a:t>
            </a:r>
            <a:r>
              <a:rPr sz="2200" spc="-8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models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on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organizational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conversation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patterns</a:t>
            </a:r>
            <a:r>
              <a:rPr sz="2200" spc="-8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that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analyzes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images,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documents</a:t>
            </a:r>
            <a:r>
              <a:rPr sz="2200" spc="-12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code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snippets</a:t>
            </a:r>
            <a:r>
              <a:rPr sz="2200" spc="-7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shared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through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the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chat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and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140C16"/>
                </a:solidFill>
                <a:latin typeface="Arial"/>
                <a:cs typeface="Arial"/>
              </a:rPr>
              <a:t>provide</a:t>
            </a:r>
            <a:r>
              <a:rPr sz="2200" spc="-13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AI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driven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automated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reminders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for</a:t>
            </a:r>
            <a:r>
              <a:rPr sz="2200" spc="-7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overdue</a:t>
            </a:r>
            <a:r>
              <a:rPr sz="2200" spc="-7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tasks.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19"/>
              </a:spcBef>
              <a:buClr>
                <a:srgbClr val="140C16"/>
              </a:buClr>
              <a:buFont typeface="Arial"/>
              <a:buChar char="●"/>
            </a:pPr>
            <a:endParaRPr sz="2200">
              <a:latin typeface="Arial"/>
              <a:cs typeface="Arial"/>
            </a:endParaRPr>
          </a:p>
          <a:p>
            <a:pPr marL="469900" marR="366395" indent="-397510">
              <a:lnSpc>
                <a:spcPct val="134500"/>
              </a:lnSpc>
              <a:spcBef>
                <a:spcPts val="5"/>
              </a:spcBef>
              <a:buFont typeface="Arial"/>
              <a:buChar char="●"/>
              <a:tabLst>
                <a:tab pos="469900" algn="l"/>
                <a:tab pos="4438015" algn="l"/>
              </a:tabLst>
            </a:pPr>
            <a:r>
              <a:rPr sz="2200" b="1" dirty="0">
                <a:solidFill>
                  <a:srgbClr val="140C16"/>
                </a:solidFill>
                <a:latin typeface="Arial"/>
                <a:cs typeface="Arial"/>
              </a:rPr>
              <a:t>Enhanced</a:t>
            </a:r>
            <a:r>
              <a:rPr sz="2200" b="1" spc="-12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b="1" spc="-35" dirty="0">
                <a:solidFill>
                  <a:srgbClr val="140C16"/>
                </a:solidFill>
                <a:latin typeface="Arial"/>
                <a:cs typeface="Arial"/>
              </a:rPr>
              <a:t>Task</a:t>
            </a:r>
            <a:r>
              <a:rPr sz="2200" b="1" spc="-12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140C16"/>
                </a:solidFill>
                <a:latin typeface="Arial"/>
                <a:cs typeface="Arial"/>
              </a:rPr>
              <a:t>Management</a:t>
            </a:r>
            <a:r>
              <a:rPr sz="2200" b="1" dirty="0">
                <a:solidFill>
                  <a:srgbClr val="140C16"/>
                </a:solidFill>
                <a:latin typeface="Arial"/>
                <a:cs typeface="Arial"/>
              </a:rPr>
              <a:t>	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by</a:t>
            </a:r>
            <a:r>
              <a:rPr sz="2200" spc="-6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Implementing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seamless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integration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of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the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extracted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tasks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which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provides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users</a:t>
            </a:r>
            <a:r>
              <a:rPr sz="2200" spc="-7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the</a:t>
            </a:r>
            <a:r>
              <a:rPr sz="2200" spc="-7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capability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to</a:t>
            </a:r>
            <a:r>
              <a:rPr sz="2200" spc="-7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modify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and</a:t>
            </a:r>
            <a:r>
              <a:rPr sz="2200" spc="-7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track</a:t>
            </a:r>
            <a:r>
              <a:rPr sz="2200" spc="-7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statuses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through</a:t>
            </a:r>
            <a:r>
              <a:rPr sz="2200" spc="-7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summary</a:t>
            </a:r>
            <a:r>
              <a:rPr sz="2200" spc="-7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component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and</a:t>
            </a:r>
            <a:r>
              <a:rPr sz="2200" spc="-7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conversational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interface.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19"/>
              </a:spcBef>
              <a:buClr>
                <a:srgbClr val="140C16"/>
              </a:buClr>
              <a:buFont typeface="Arial"/>
              <a:buChar char="●"/>
            </a:pPr>
            <a:endParaRPr sz="2200">
              <a:latin typeface="Arial"/>
              <a:cs typeface="Arial"/>
            </a:endParaRPr>
          </a:p>
          <a:p>
            <a:pPr marL="469900" marR="530860" indent="-397510">
              <a:lnSpc>
                <a:spcPct val="134500"/>
              </a:lnSpc>
              <a:buFont typeface="Arial"/>
              <a:buChar char="●"/>
              <a:tabLst>
                <a:tab pos="469900" algn="l"/>
              </a:tabLst>
            </a:pPr>
            <a:r>
              <a:rPr sz="2200" b="1" dirty="0">
                <a:solidFill>
                  <a:srgbClr val="140C16"/>
                </a:solidFill>
                <a:latin typeface="Arial"/>
                <a:cs typeface="Arial"/>
              </a:rPr>
              <a:t>Smart</a:t>
            </a:r>
            <a:r>
              <a:rPr sz="2200" b="1" spc="-9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140C16"/>
                </a:solidFill>
                <a:latin typeface="Arial"/>
                <a:cs typeface="Arial"/>
              </a:rPr>
              <a:t>search:</a:t>
            </a:r>
            <a:r>
              <a:rPr sz="2200" b="1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140C16"/>
                </a:solidFill>
                <a:latin typeface="Arial"/>
                <a:cs typeface="Arial"/>
              </a:rPr>
              <a:t>Leverage</a:t>
            </a:r>
            <a:r>
              <a:rPr sz="2200" spc="-13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AI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embeddings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to</a:t>
            </a:r>
            <a:r>
              <a:rPr sz="2200" spc="-6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enable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users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search</a:t>
            </a:r>
            <a:r>
              <a:rPr sz="2200" spc="-6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across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the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chat</a:t>
            </a:r>
            <a:r>
              <a:rPr sz="2200" spc="-6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history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based</a:t>
            </a:r>
            <a:r>
              <a:rPr sz="2200" spc="-5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on</a:t>
            </a:r>
            <a:r>
              <a:rPr sz="2200" spc="-6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contextual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meaning,</a:t>
            </a:r>
            <a:r>
              <a:rPr sz="2200" spc="-9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similarity</a:t>
            </a:r>
            <a:r>
              <a:rPr sz="2200" spc="-8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and</a:t>
            </a:r>
            <a:r>
              <a:rPr sz="2200" spc="-8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concepts,</a:t>
            </a:r>
            <a:r>
              <a:rPr sz="2200" spc="-8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not</a:t>
            </a:r>
            <a:r>
              <a:rPr sz="2200" spc="-8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just</a:t>
            </a:r>
            <a:r>
              <a:rPr sz="2200" spc="-8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keywords.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200">
              <a:latin typeface="Arial"/>
              <a:cs typeface="Arial"/>
            </a:endParaRPr>
          </a:p>
          <a:p>
            <a:pPr marL="12700" marR="363220">
              <a:lnSpc>
                <a:spcPct val="134500"/>
              </a:lnSpc>
            </a:pP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By</a:t>
            </a:r>
            <a:r>
              <a:rPr sz="2200" spc="-10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improvising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these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scaling</a:t>
            </a:r>
            <a:r>
              <a:rPr sz="2200" spc="-7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challenges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and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increasing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the</a:t>
            </a:r>
            <a:r>
              <a:rPr sz="2200" spc="-14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AI's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capabilities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to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be</a:t>
            </a:r>
            <a:r>
              <a:rPr sz="2200" spc="-7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more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than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basic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summarization,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making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it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highly</a:t>
            </a:r>
            <a:r>
              <a:rPr sz="2200" spc="-6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useful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and</a:t>
            </a:r>
            <a:r>
              <a:rPr sz="2200" spc="-6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competitive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for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large</a:t>
            </a:r>
            <a:r>
              <a:rPr sz="2200" spc="-6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teams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and</a:t>
            </a:r>
            <a:r>
              <a:rPr sz="2200" spc="-6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enterprises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frustrated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with</a:t>
            </a:r>
            <a:r>
              <a:rPr sz="2200" spc="-6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context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loss</a:t>
            </a:r>
            <a:r>
              <a:rPr sz="2200" spc="-6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40C16"/>
                </a:solidFill>
                <a:latin typeface="Arial"/>
                <a:cs typeface="Arial"/>
              </a:rPr>
              <a:t>in</a:t>
            </a:r>
            <a:r>
              <a:rPr sz="2200" spc="-65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standard collaboration</a:t>
            </a:r>
            <a:r>
              <a:rPr sz="2200" spc="-60" dirty="0">
                <a:solidFill>
                  <a:srgbClr val="140C1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40C16"/>
                </a:solidFill>
                <a:latin typeface="Arial"/>
                <a:cs typeface="Arial"/>
              </a:rPr>
              <a:t>tools.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92958" y="3226479"/>
            <a:ext cx="5231130" cy="1101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50" dirty="0">
                <a:solidFill>
                  <a:srgbClr val="7B33BA"/>
                </a:solidFill>
              </a:rPr>
              <a:t>THANK</a:t>
            </a:r>
            <a:r>
              <a:rPr sz="7050" spc="-180" dirty="0">
                <a:solidFill>
                  <a:srgbClr val="7B33BA"/>
                </a:solidFill>
              </a:rPr>
              <a:t> </a:t>
            </a:r>
            <a:r>
              <a:rPr sz="7050" spc="-25" dirty="0">
                <a:solidFill>
                  <a:srgbClr val="7B33BA"/>
                </a:solidFill>
              </a:rPr>
              <a:t>YOU</a:t>
            </a:r>
            <a:endParaRPr sz="7050"/>
          </a:p>
        </p:txBody>
      </p:sp>
      <p:grpSp>
        <p:nvGrpSpPr>
          <p:cNvPr id="3" name="object 3"/>
          <p:cNvGrpSpPr/>
          <p:nvPr/>
        </p:nvGrpSpPr>
        <p:grpSpPr>
          <a:xfrm>
            <a:off x="6878787" y="5229709"/>
            <a:ext cx="4530725" cy="4064000"/>
            <a:chOff x="6878787" y="5229709"/>
            <a:chExt cx="4530725" cy="4064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0265" y="9089824"/>
              <a:ext cx="1921529" cy="1922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8787" y="5229709"/>
              <a:ext cx="4530425" cy="40637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IDEA</vt:lpstr>
      <vt:lpstr>TECH STACK &amp; ARCHITECTURE</vt:lpstr>
      <vt:lpstr>BUSINESS SCOPE &amp; IMPACT</vt:lpstr>
      <vt:lpstr>Challenges &amp;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Fedora</dc:title>
  <cp:lastModifiedBy>ajay phoenix</cp:lastModifiedBy>
  <cp:revision>1</cp:revision>
  <dcterms:created xsi:type="dcterms:W3CDTF">2026-03-25T02:27:49Z</dcterms:created>
  <dcterms:modified xsi:type="dcterms:W3CDTF">2026-03-25T02:28:55Z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2026-03-25T00:00:00Z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2026-03-25T00:00:00Z</vt:filetime>
  </property>
</Properties>
</file>